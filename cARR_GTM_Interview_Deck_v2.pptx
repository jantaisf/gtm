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5" r:id="rId16"/>
    <p:sldId id="267" r:id="rId17"/>
    <p:sldId id="268" r:id="rId18"/>
    <p:sldId id="269" r:id="rId19"/>
    <p:sldId id="257" r:id="rId3"/>
    <p:sldId id="263" r:id="rId9"/>
    <p:sldId id="270" r:id="rId20"/>
    <p:sldId id="271" r:id="rId21"/>
    <p:sldId id="258" r:id="rId4"/>
    <p:sldId id="259" r:id="rId5"/>
    <p:sldId id="272" r:id="rId22"/>
    <p:sldId id="262" r:id="rId8"/>
    <p:sldId id="273" r:id="rId23"/>
    <p:sldId id="260" r:id="rId6"/>
    <p:sldId id="274" r:id="rId24"/>
    <p:sldId id="275" r:id="rId25"/>
    <p:sldId id="276" r:id="rId26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2D3A6B"/>
          </a:solidFill>
          <a:ln w="12700">
            <a:solidFill>
              <a:srgbClr val="2D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58368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0" y="1371600"/>
            <a:ext cx="1737360" cy="1737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ADCFC"/>
                </a:solidFill>
              </a:rPr>
              <a:t>JOB INTERVIEW CASE STUDY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11430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Consumed ARR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CADCFC"/>
                </a:solidFill>
              </a:rPr>
              <a:t>(cARR)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548640" y="274320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</a:rPr>
              <a:t>A new North Star metric for Prisma Cloud's transition to hybrid consumption-based pricing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4297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BB"/>
                </a:solidFill>
              </a:rPr>
              <a:t>Palo Alto Networks · Prisma Cloud · Principal PM, Analytics &amp; AI · May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ADCFC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</a:rPr>
              <a:t>ARR alone is no longer sufficient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298448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</a:rPr>
              <a:t>With Prisma Cloud's shift to consumption-based credits, two $500K deals can look identical on paper — yet represent fundamentally different business realities.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2029968"/>
            <a:ext cx="41148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2029968"/>
            <a:ext cx="4114800" cy="6400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19456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24128" y="216712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Shelfware Risk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94360" y="267919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$500K ARR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</a:rPr>
              <a:t>4% consumption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</a:rPr>
              <a:t>$20K realized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94360" y="37490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</a:rPr>
              <a:t>Credits unused. Churn liability hiding in plain sight.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754880" y="2029968"/>
            <a:ext cx="411480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54880" y="2029968"/>
            <a:ext cx="4114800" cy="6400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2194560"/>
            <a:ext cx="347472" cy="34747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413248" y="216712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Healthy Account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983480" y="2679192"/>
            <a:ext cx="3657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</a:rPr>
              <a:t>$500K ARR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</a:rPr>
              <a:t>92% consumption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</a:rPr>
              <a:t>$460K realized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4983480" y="374904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5568"/>
                </a:solidFill>
              </a:rPr>
              <a:t>Full value realization. Renewal + expansion candidate.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0" y="4636008"/>
            <a:ext cx="914400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365760" y="4636008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Sales leadership needs one metric that reflects whether contracted revenue is being realized through actual platform usage.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ADCFC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</a:rPr>
              <a:t>Consumed ARR (cARR)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365760" y="1353312"/>
            <a:ext cx="8412480" cy="111556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417320"/>
            <a:ext cx="786384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cARR  =  Annual Commit ($)  ×  Consumption Rate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</a:rPr>
              <a:t>Consumption Rate  =  trailing_90d_avg(monthly credits consumed ÷ included monthly credits)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2633472"/>
            <a:ext cx="265176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2633472"/>
            <a:ext cx="2651760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0352" y="2734056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Healthy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30352" y="3163824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</a:rPr>
              <a:t>$200K ARR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</a:rPr>
              <a:t>92% consumed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0B981"/>
                </a:solidFill>
              </a:rPr>
              <a:t>$184K cARR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200400" y="2633472"/>
            <a:ext cx="265176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0" y="2633472"/>
            <a:ext cx="2651760" cy="54864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64992" y="2734056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Shelfware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64992" y="3163824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</a:rPr>
              <a:t>$300K ARR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</a:rPr>
              <a:t>4% consumed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EF4444"/>
                </a:solidFill>
              </a:rPr>
              <a:t>$12K cARR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035040" y="2633472"/>
            <a:ext cx="265176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2633472"/>
            <a:ext cx="265176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99632" y="2734056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Expansion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199632" y="3163824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</a:rPr>
              <a:t>$80K ARR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4A5568"/>
                </a:solidFill>
              </a:rPr>
              <a:t>138% consumed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D9488"/>
                </a:solidFill>
              </a:rPr>
              <a:t>$110K cARR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65760" y="4754880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5568"/>
                </a:solidFill>
              </a:rPr>
              <a:t>New accounts (&lt;90 days) are excluded as Ramping — insufficient history for a reliable trailing average.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ADCFC"/>
                </a:solidFill>
              </a:rPr>
              <a:t>HEALTH TIERS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Six tiers drive CS prioritization and sales motion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32588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5568"/>
                </a:solidFill>
              </a:rPr>
              <a:t>TIER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377440" y="132588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5568"/>
                </a:solidFill>
              </a:rPr>
              <a:t>CONSUMPTION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840480" y="13258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4A5568"/>
                </a:solidFill>
              </a:rPr>
              <a:t>ACTION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5760" y="1581912"/>
            <a:ext cx="8412480" cy="0"/>
          </a:xfrm>
          <a:prstGeom prst="line">
            <a:avLst/>
          </a:prstGeom>
          <a:noFill/>
          <a:ln w="19050">
            <a:solidFill>
              <a:srgbClr val="1E276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581912"/>
            <a:ext cx="201168" cy="310896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51790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Expansion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377440" y="151790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</a:rPr>
              <a:t>&gt; 120%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840480" y="1517904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</a:rPr>
              <a:t>Rep-led upsell motion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65760" y="1956816"/>
            <a:ext cx="84124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2066544"/>
            <a:ext cx="201168" cy="310896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200253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Healthy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377440" y="2002536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</a:rPr>
              <a:t>80–120%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840480" y="2002536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</a:rPr>
              <a:t>Maintain cadence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365760" y="2441448"/>
            <a:ext cx="84124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2551176"/>
            <a:ext cx="201168" cy="3108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248716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At Risk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377440" y="248716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</a:rPr>
              <a:t>40–80%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3840480" y="248716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</a:rPr>
              <a:t>CS escalation within 30 days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365760" y="2926080"/>
            <a:ext cx="84124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920" y="3035808"/>
            <a:ext cx="201168" cy="310896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297180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Shelfware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2377440" y="2971800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</a:rPr>
              <a:t>5–40%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3840480" y="2971800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</a:rPr>
              <a:t>Executive sponsor outreach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365760" y="3410712"/>
            <a:ext cx="84124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3520440"/>
            <a:ext cx="201168" cy="310896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960" y="345643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Inactive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2377440" y="3456432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</a:rPr>
              <a:t>&lt; 5%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3840480" y="3456432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</a:rPr>
              <a:t>Immediate save plan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365760" y="3895344"/>
            <a:ext cx="84124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4005072"/>
            <a:ext cx="201168" cy="310896"/>
          </a:xfrm>
          <a:prstGeom prst="rect">
            <a:avLst/>
          </a:prstGeom>
          <a:solidFill>
            <a:srgbClr val="4A5568"/>
          </a:solidFill>
          <a:ln w="12700">
            <a:solidFill>
              <a:srgbClr val="4A55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394106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Ramping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2377440" y="3941064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</a:rPr>
              <a:t>&lt; 90 days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840480" y="3941064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A5568"/>
                </a:solidFill>
              </a:rPr>
              <a:t>Excluded from cARR; onboarding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0" y="4800600"/>
            <a:ext cx="9144000" cy="33832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4800600"/>
            <a:ext cx="8412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</a:rPr>
              <a:t>Health tiers drive CS playbooks and sales prioritization — cARR itself uses the raw continuous consumption rate, not tiered multipliers.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ADCFC"/>
                </a:solidFill>
              </a:rPr>
              <a:t>METRICS &amp; GOALS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Success criteria &amp; leading/lagging signal system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1371600"/>
            <a:ext cx="199339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71600"/>
            <a:ext cx="1993392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481328"/>
            <a:ext cx="19019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D9488"/>
                </a:solidFill>
              </a:rPr>
              <a:t>≥ 85%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393192" y="2212848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cARR Attainment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93192" y="2633472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4A5568"/>
                </a:solidFill>
              </a:rPr>
              <a:t>Rolling 90 days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496312" y="1371600"/>
            <a:ext cx="199339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496312" y="1371600"/>
            <a:ext cx="1993392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42032" y="1481328"/>
            <a:ext cx="19019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59E0B"/>
                </a:solidFill>
              </a:rPr>
              <a:t>≤ 8%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2569464" y="2212848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Shelfware Rate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69464" y="2633472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4A5568"/>
                </a:solidFill>
              </a:rPr>
              <a:t>of active accounts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672584" y="1371600"/>
            <a:ext cx="199339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72584" y="1371600"/>
            <a:ext cx="1993392" cy="54864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8304" y="1481328"/>
            <a:ext cx="19019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0B981"/>
                </a:solidFill>
              </a:rPr>
              <a:t>≥ 30%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4745736" y="2212848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Expansion Conversion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45736" y="2633472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4A5568"/>
                </a:solidFill>
              </a:rPr>
              <a:t>flagged → upsell / 180 days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848856" y="1371600"/>
            <a:ext cx="1993392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48856" y="1371600"/>
            <a:ext cx="1993392" cy="54864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94576" y="1481328"/>
            <a:ext cx="19019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E2761"/>
                </a:solidFill>
              </a:rPr>
              <a:t>≥ 70%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6922008" y="2212848"/>
            <a:ext cx="18470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New Acct Activation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922008" y="2633472"/>
            <a:ext cx="184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4A5568"/>
                </a:solidFill>
              </a:rPr>
              <a:t>Healthy tier within 90 days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57200" y="321868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Leading → Lagging Signal Chain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65760" y="3703320"/>
            <a:ext cx="182880" cy="29260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" y="365760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cARR Attainment ≥ 90%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520440" y="365760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5568"/>
                </a:solidFill>
              </a:rPr>
              <a:t>→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913632" y="3657600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Strong renewal + likely expansion (NRR ≥ 120%)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65760" y="4105656"/>
            <a:ext cx="182880" cy="29260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405993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cARR Attainment 70–90%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520440" y="4059936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5568"/>
                </a:solidFill>
              </a:rPr>
              <a:t>→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13632" y="4059936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Renewal probable; flat or slight NRR compression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4507992"/>
            <a:ext cx="182880" cy="29260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8368" y="4462272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cARR Attainment &lt; 50%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520440" y="4462272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A5568"/>
                </a:solidFill>
              </a:rPr>
              <a:t>→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3913632" y="446227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High churn probability; executive save plan required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ADCFC"/>
                </a:solidFill>
              </a:rPr>
              <a:t>EXECUTIVE DASHBOARD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Live Streamlit + BigQuery dashboard for four audiences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417320"/>
            <a:ext cx="40233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65760" y="1417320"/>
            <a:ext cx="402336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18488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05840" y="1572768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Portfolio Overview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196596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D9488"/>
                </a:solidFill>
              </a:rPr>
              <a:t>VP Sales · CFO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566928" y="2295144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KPI strip (5 metrics) · cARR by Region bar · Account Health donut · Attainment scatter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663440" y="1417320"/>
            <a:ext cx="40233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63440" y="1417320"/>
            <a:ext cx="4023360" cy="54864"/>
          </a:xfrm>
          <a:prstGeom prst="rect">
            <a:avLst/>
          </a:prstGeom>
          <a:solidFill>
            <a:srgbClr val="5B21B6"/>
          </a:solidFill>
          <a:ln w="12700">
            <a:solidFill>
              <a:srgbClr val="5B21B6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1618488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303520" y="1572768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By Region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303520" y="1965960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21B6"/>
                </a:solidFill>
              </a:rPr>
              <a:t>Regional VPs · Sales Ops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4864608" y="2295144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Region summary table · Health tier stacked bar by region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365760" y="3218688"/>
            <a:ext cx="40233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65760" y="3218688"/>
            <a:ext cx="402336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3419856"/>
            <a:ext cx="329184" cy="329184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05840" y="3374136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Rep Leaderboard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005840" y="376732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59E0B"/>
                </a:solidFill>
              </a:rPr>
              <a:t>Sales Managers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66928" y="4096512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Top/bottom callout cards · Ranked bar chart · Full rep table with rank + at-risk $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4663440" y="3218688"/>
            <a:ext cx="40233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4663440" y="3218688"/>
            <a:ext cx="4023360" cy="54864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4608" y="3419856"/>
            <a:ext cx="329184" cy="329184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303520" y="3374136"/>
            <a:ext cx="3246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Account Drill-Down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303520" y="3767328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369A1"/>
                </a:solidFill>
              </a:rPr>
              <a:t>CS Leads · AEs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4864608" y="4096512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Health tier filter · ARR vs. consumption scatter · Per-account detail table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ADCFC"/>
                </a:solidFill>
              </a:rPr>
              <a:t>INDUSTRY CONTEXT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40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Consumption pricing is the new enterprise standard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1325880"/>
            <a:ext cx="2651760" cy="2148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417320"/>
            <a:ext cx="26517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CADCFC"/>
                </a:solidFill>
              </a:rPr>
              <a:t>67%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2468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</a:rPr>
              <a:t>of SaaS companies now offer usage-based pricing — up from 35% in 2020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318211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CADCFC"/>
                </a:solidFill>
              </a:rPr>
              <a:t>Metronome, State of Usage-Based Pricing 2025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200400" y="132588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Peer Benchmark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0" y="1719072"/>
          <a:ext cx="5577840" cy="1783080"/>
        </p:xfrm>
        <a:graphic>
          <a:graphicData uri="http://schemas.openxmlformats.org/drawingml/2006/table">
            <a:tbl>
              <a:tblPr/>
              <a:tblGrid>
                <a:gridCol w="1234440"/>
                <a:gridCol w="1325880"/>
                <a:gridCol w="3017520"/>
              </a:tblGrid>
              <a:tr h="297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Company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Unit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Equivalent metric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Snowflake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Credits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Consumed Revenue = credits × price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Databricks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DBUs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Consumed ARR = annualized trailing DBU usage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MongoDB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Queries / ops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Incremental ARR above usage baseline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OpenAI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Tokens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</a:rPr>
                        <a:t>Revenue recognized on actual consumption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</a:rPr>
                        <a:t>PANW Prisma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</a:rPr>
                        <a:t>Compute credits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E2761"/>
                          </a:solidFill>
                        </a:rPr>
                        <a:t>cARR = annual_commit × consumption_rate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CFC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365760" y="3611880"/>
            <a:ext cx="8412480" cy="1188720"/>
          </a:xfrm>
          <a:prstGeom prst="rect">
            <a:avLst/>
          </a:prstGeom>
          <a:solidFill>
            <a:srgbClr val="EFF6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94360" y="370332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Snowflake compensation precedent (modeled in cARR):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94360" y="4023360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New/greenfield reps:</a:t>
            </a:r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</a:rPr>
              <a:t xml:space="preserve">  70% bookings / 30% consumption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Mature territory reps:</a:t>
            </a:r>
            <a:pPr indent="0" marL="0">
              <a:buNone/>
            </a:pPr>
            <a:r>
              <a:rPr lang="en-US" sz="1300" dirty="0">
                <a:solidFill>
                  <a:srgbClr val="4A5568"/>
                </a:solidFill>
              </a:rPr>
              <a:t xml:space="preserve">  30% bookings / 70% consumption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2D3A6B"/>
          </a:solidFill>
          <a:ln w="12700">
            <a:solidFill>
              <a:srgbClr val="2D3A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658368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0" y="1828800"/>
            <a:ext cx="1645920" cy="1645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CADCFC"/>
                </a:solidFill>
              </a:rPr>
              <a:t>KEY TAKEAWAYS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548640" y="109728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cARR in three sentences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48640" y="1975104"/>
            <a:ext cx="347472" cy="34747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8640" y="19751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024128" y="1920240"/>
            <a:ext cx="5376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cARR makes shelfware visible — a $300K deal at 4% consumption contributes only $12K, not $300K, to attainment.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48640" y="2980944"/>
            <a:ext cx="347472" cy="34747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29809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24128" y="2926080"/>
            <a:ext cx="5376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It aligns incentives end-to-end: Hunters are rewarded for quality of sale, Farmers for realized value, SEs for driving adoption.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3986784"/>
            <a:ext cx="347472" cy="347472"/>
          </a:xfrm>
          <a:prstGeom prst="ellipse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9867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24128" y="3931920"/>
            <a:ext cx="5376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It gives the CFO a leading indicator — cARR attainment predicts NRR at renewal before a single contract is signed.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genda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Eyebrow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ADCFC"/>
                </a:solidFill>
              </a:rPr>
              <a:t>AGENDA</a:t>
            </a:r>
          </a:p>
        </p:txBody>
      </p:sp>
      <p:sp>
        <p:nvSpPr>
          <p:cNvPr id="4" name="Title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</a:rPr>
              <a:t>Session Structure  ·  60 Minutes</a:t>
            </a:r>
          </a:p>
        </p:txBody>
      </p:sp>
      <p:sp>
        <p:nvSpPr>
          <p:cNvPr id="60" name="ColHdrTime"/>
          <p:cNvSpPr/>
          <p:nvPr/>
        </p:nvSpPr>
        <p:spPr>
          <a:xfrm>
            <a:off x="502920" y="1190000"/>
            <a:ext cx="548640" cy="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900" b="1" spc="200" dirty="0">
                <a:solidFill>
                  <a:srgbClr val="94A3B8"/>
                </a:solidFill>
              </a:rPr>
              <a:t>TIME</a:t>
            </a:r>
          </a:p>
        </p:txBody>
      </p:sp>
      <p:sp>
        <p:nvSpPr>
          <p:cNvPr id="61" name="ColHdrSection"/>
          <p:cNvSpPr/>
          <p:nvPr/>
        </p:nvSpPr>
        <p:spPr>
          <a:xfrm>
            <a:off x="1097280" y="1190000"/>
            <a:ext cx="2286000" cy="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dirty="0">
                <a:solidFill>
                  <a:srgbClr val="94A3B8"/>
                </a:solidFill>
              </a:rPr>
              <a:t>SECTION</a:t>
            </a:r>
          </a:p>
        </p:txBody>
      </p:sp>
      <p:sp>
        <p:nvSpPr>
          <p:cNvPr id="62" name="ColHdrFocus"/>
          <p:cNvSpPr/>
          <p:nvPr/>
        </p:nvSpPr>
        <p:spPr>
          <a:xfrm>
            <a:off x="3520440" y="1190000"/>
            <a:ext cx="5166360" cy="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dirty="0">
                <a:solidFill>
                  <a:srgbClr val="94A3B8"/>
                </a:solidFill>
              </a:rPr>
              <a:t>FOCUS AREA</a:t>
            </a:r>
          </a:p>
        </p:txBody>
      </p:sp>
      <p:sp>
        <p:nvSpPr>
          <p:cNvPr id="10" name="Accent1"/>
          <p:cNvSpPr/>
          <p:nvPr/>
        </p:nvSpPr>
        <p:spPr>
          <a:xfrm>
            <a:off x="457200" y="1300000"/>
            <a:ext cx="18000" cy="480000"/>
          </a:xfrm>
          <a:prstGeom prst="rect">
            <a:avLst/>
          </a:prstGeom>
          <a:solidFill>
            <a:srgbClr val="1E2761"/>
          </a:solidFill>
          <a:ln>
            <a:noFill/>
          </a:ln>
        </p:spPr>
      </p:sp>
      <p:sp>
        <p:nvSpPr>
          <p:cNvPr id="11" name="TimePill1"/>
          <p:cNvSpPr/>
          <p:nvPr/>
        </p:nvSpPr>
        <p:spPr>
          <a:xfrm>
            <a:off x="502920" y="1320000"/>
            <a:ext cx="548640" cy="210000"/>
          </a:xfrm>
          <a:prstGeom prst="roundRect">
            <a:avLst>
              <a:gd name="adj" fmla="val 30000"/>
            </a:avLst>
          </a:prstGeom>
          <a:solidFill>
            <a:srgbClr val="1E2761"/>
          </a:solidFill>
          <a:ln>
            <a:noFill/>
          </a:ln>
        </p:spPr>
        <p:txBody>
          <a:bodyPr wrap="square" lIns="45720" tIns="0" rIns="45720" bIns="0" rtlCol="0" anchor="ctr"/>
          <a:lstStyle/>
          <a:p>
            <a:pPr algn="ctr">
              <a:buNone/>
            </a:pPr>
            <a:r>
              <a:rPr lang="en-US" sz="1000" b="1" dirty="0">
                <a:solidFill>
                  <a:srgbClr val="CADCFC"/>
                </a:solidFill>
              </a:rPr>
              <a:t>5 MIN</a:t>
            </a:r>
          </a:p>
        </p:txBody>
      </p:sp>
      <p:sp>
        <p:nvSpPr>
          <p:cNvPr id="12" name="SecName1"/>
          <p:cNvSpPr/>
          <p:nvPr/>
        </p:nvSpPr>
        <p:spPr>
          <a:xfrm>
            <a:off x="1097280" y="1300000"/>
            <a:ext cx="2286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Introduction</a:t>
            </a:r>
          </a:p>
        </p:txBody>
      </p:sp>
      <p:sp>
        <p:nvSpPr>
          <p:cNvPr id="13" name="Focus1"/>
          <p:cNvSpPr/>
          <p:nvPr/>
        </p:nvSpPr>
        <p:spPr>
          <a:xfrm>
            <a:off x="3520440" y="1300000"/>
            <a:ext cx="516636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Your background and “Technical PM” philosophy.</a:t>
            </a:r>
          </a:p>
        </p:txBody>
      </p:sp>
      <p:sp>
        <p:nvSpPr>
          <p:cNvPr id="14" name="Div1"/>
          <p:cNvSpPr/>
          <p:nvPr/>
        </p:nvSpPr>
        <p:spPr>
          <a:xfrm>
            <a:off x="457200" y="1610000"/>
            <a:ext cx="8229600" cy="900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20" name="Accent2"/>
          <p:cNvSpPr/>
          <p:nvPr/>
        </p:nvSpPr>
        <p:spPr>
          <a:xfrm>
            <a:off x="457200" y="1650000"/>
            <a:ext cx="18000" cy="480000"/>
          </a:xfrm>
          <a:prstGeom prst="rect">
            <a:avLst/>
          </a:prstGeom>
          <a:solidFill>
            <a:srgbClr val="F97316"/>
          </a:solidFill>
          <a:ln>
            <a:noFill/>
          </a:ln>
        </p:spPr>
      </p:sp>
      <p:sp>
        <p:nvSpPr>
          <p:cNvPr id="21" name="TimePill2"/>
          <p:cNvSpPr/>
          <p:nvPr/>
        </p:nvSpPr>
        <p:spPr>
          <a:xfrm>
            <a:off x="502920" y="1668000"/>
            <a:ext cx="548640" cy="210000"/>
          </a:xfrm>
          <a:prstGeom prst="roundRect">
            <a:avLst>
              <a:gd name="adj" fmla="val 30000"/>
            </a:avLst>
          </a:prstGeom>
          <a:solidFill>
            <a:srgbClr val="F97316"/>
          </a:solidFill>
          <a:ln>
            <a:noFill/>
          </a:ln>
        </p:spPr>
        <p:txBody>
          <a:bodyPr wrap="square" lIns="45720" tIns="0" rIns="45720" bIns="0" rtlCol="0"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5 MIN</a:t>
            </a:r>
          </a:p>
        </p:txBody>
      </p:sp>
      <p:sp>
        <p:nvSpPr>
          <p:cNvPr id="22" name="SecName2"/>
          <p:cNvSpPr/>
          <p:nvPr/>
        </p:nvSpPr>
        <p:spPr>
          <a:xfrm>
            <a:off x="1097280" y="1650000"/>
            <a:ext cx="2286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Context &amp; Problem</a:t>
            </a:r>
          </a:p>
        </p:txBody>
      </p:sp>
      <p:sp>
        <p:nvSpPr>
          <p:cNvPr id="23" name="Focus2"/>
          <p:cNvSpPr/>
          <p:nvPr/>
        </p:nvSpPr>
        <p:spPr>
          <a:xfrm>
            <a:off x="3520440" y="1650000"/>
            <a:ext cx="516636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Why ARR alone is no longer sufficient — and what we built to fix it.</a:t>
            </a:r>
          </a:p>
        </p:txBody>
      </p:sp>
      <p:sp>
        <p:nvSpPr>
          <p:cNvPr id="24" name="Div2"/>
          <p:cNvSpPr/>
          <p:nvPr/>
        </p:nvSpPr>
        <p:spPr>
          <a:xfrm>
            <a:off x="457200" y="1960000"/>
            <a:ext cx="8229600" cy="900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30" name="Accent3"/>
          <p:cNvSpPr/>
          <p:nvPr/>
        </p:nvSpPr>
        <p:spPr>
          <a:xfrm>
            <a:off x="457200" y="2000000"/>
            <a:ext cx="18000" cy="480000"/>
          </a:xfrm>
          <a:prstGeom prst="rect">
            <a:avLst/>
          </a:prstGeom>
          <a:solidFill>
            <a:srgbClr val="8B5CF6"/>
          </a:solidFill>
          <a:ln>
            <a:noFill/>
          </a:ln>
        </p:spPr>
      </p:sp>
      <p:sp>
        <p:nvSpPr>
          <p:cNvPr id="31" name="TimePill3"/>
          <p:cNvSpPr/>
          <p:nvPr/>
        </p:nvSpPr>
        <p:spPr>
          <a:xfrm>
            <a:off x="502920" y="2020000"/>
            <a:ext cx="548640" cy="210000"/>
          </a:xfrm>
          <a:prstGeom prst="roundRect">
            <a:avLst>
              <a:gd name="adj" fmla="val 30000"/>
            </a:avLst>
          </a:prstGeom>
          <a:solidFill>
            <a:srgbClr val="8B5CF6"/>
          </a:solidFill>
          <a:ln>
            <a:noFill/>
          </a:ln>
        </p:spPr>
        <p:txBody>
          <a:bodyPr wrap="square" lIns="45720" tIns="0" rIns="45720" bIns="0" rtlCol="0"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15 MIN</a:t>
            </a:r>
          </a:p>
        </p:txBody>
      </p:sp>
      <p:sp>
        <p:nvSpPr>
          <p:cNvPr id="32" name="SecName3"/>
          <p:cNvSpPr/>
          <p:nvPr/>
        </p:nvSpPr>
        <p:spPr>
          <a:xfrm>
            <a:off x="1097280" y="2000000"/>
            <a:ext cx="2286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Technical Deep Dive</a:t>
            </a:r>
          </a:p>
        </p:txBody>
      </p:sp>
      <p:sp>
        <p:nvSpPr>
          <p:cNvPr id="33" name="Focus3"/>
          <p:cNvSpPr/>
          <p:nvPr/>
        </p:nvSpPr>
        <p:spPr>
          <a:xfrm>
            <a:off x="3520440" y="2000000"/>
            <a:ext cx="516636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Architecture choices, data pipeline, and why you chose your specific technical approach.</a:t>
            </a:r>
          </a:p>
        </p:txBody>
      </p:sp>
      <p:sp>
        <p:nvSpPr>
          <p:cNvPr id="34" name="Div3"/>
          <p:cNvSpPr/>
          <p:nvPr/>
        </p:nvSpPr>
        <p:spPr>
          <a:xfrm>
            <a:off x="457200" y="2310000"/>
            <a:ext cx="8229600" cy="900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40" name="Accent4"/>
          <p:cNvSpPr/>
          <p:nvPr/>
        </p:nvSpPr>
        <p:spPr>
          <a:xfrm>
            <a:off x="457200" y="2350000"/>
            <a:ext cx="18000" cy="48000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41" name="TimePill4"/>
          <p:cNvSpPr/>
          <p:nvPr/>
        </p:nvSpPr>
        <p:spPr>
          <a:xfrm>
            <a:off x="502920" y="2368000"/>
            <a:ext cx="548640" cy="210000"/>
          </a:xfrm>
          <a:prstGeom prst="roundRect">
            <a:avLst>
              <a:gd name="adj" fmla="val 30000"/>
            </a:avLst>
          </a:prstGeom>
          <a:solidFill>
            <a:srgbClr val="10B981"/>
          </a:solidFill>
          <a:ln>
            <a:noFill/>
          </a:ln>
        </p:spPr>
        <p:txBody>
          <a:bodyPr wrap="square" lIns="45720" tIns="0" rIns="45720" bIns="0" rtlCol="0"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10 MIN</a:t>
            </a:r>
          </a:p>
        </p:txBody>
      </p:sp>
      <p:sp>
        <p:nvSpPr>
          <p:cNvPr id="42" name="SecName4"/>
          <p:cNvSpPr/>
          <p:nvPr/>
        </p:nvSpPr>
        <p:spPr>
          <a:xfrm>
            <a:off x="1097280" y="2350000"/>
            <a:ext cx="2286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Evaluation &amp; Results</a:t>
            </a:r>
          </a:p>
        </p:txBody>
      </p:sp>
      <p:sp>
        <p:nvSpPr>
          <p:cNvPr id="43" name="Focus4"/>
          <p:cNvSpPr/>
          <p:nvPr/>
        </p:nvSpPr>
        <p:spPr>
          <a:xfrm>
            <a:off x="3520440" y="2350000"/>
            <a:ext cx="516636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The metrics that mattered. How did you validate the model and what were the “hard truths” learned?</a:t>
            </a:r>
          </a:p>
        </p:txBody>
      </p:sp>
      <p:sp>
        <p:nvSpPr>
          <p:cNvPr id="44" name="Div4"/>
          <p:cNvSpPr/>
          <p:nvPr/>
        </p:nvSpPr>
        <p:spPr>
          <a:xfrm>
            <a:off x="457200" y="2660000"/>
            <a:ext cx="8229600" cy="9000"/>
          </a:xfrm>
          <a:prstGeom prst="rect">
            <a:avLst/>
          </a:prstGeom>
          <a:solidFill>
            <a:srgbClr val="E2E8F0"/>
          </a:solidFill>
          <a:ln>
            <a:noFill/>
          </a:ln>
        </p:spPr>
      </p:sp>
      <p:sp>
        <p:nvSpPr>
          <p:cNvPr id="50" name="Accent5"/>
          <p:cNvSpPr/>
          <p:nvPr/>
        </p:nvSpPr>
        <p:spPr>
          <a:xfrm>
            <a:off x="457200" y="2700000"/>
            <a:ext cx="18000" cy="480000"/>
          </a:xfrm>
          <a:prstGeom prst="rect">
            <a:avLst/>
          </a:prstGeom>
          <a:solidFill>
            <a:srgbClr val="EF4444"/>
          </a:solidFill>
          <a:ln>
            <a:noFill/>
          </a:ln>
        </p:spPr>
      </p:sp>
      <p:sp>
        <p:nvSpPr>
          <p:cNvPr id="51" name="TimePill5"/>
          <p:cNvSpPr/>
          <p:nvPr/>
        </p:nvSpPr>
        <p:spPr>
          <a:xfrm>
            <a:off x="502920" y="2718000"/>
            <a:ext cx="548640" cy="210000"/>
          </a:xfrm>
          <a:prstGeom prst="roundRect">
            <a:avLst>
              <a:gd name="adj" fmla="val 30000"/>
            </a:avLst>
          </a:prstGeom>
          <a:solidFill>
            <a:srgbClr val="EF4444"/>
          </a:solidFill>
          <a:ln>
            <a:noFill/>
          </a:ln>
        </p:spPr>
        <p:txBody>
          <a:bodyPr wrap="square" lIns="45720" tIns="0" rIns="45720" bIns="0" rtlCol="0"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25 MIN</a:t>
            </a:r>
          </a:p>
        </p:txBody>
      </p:sp>
      <p:sp>
        <p:nvSpPr>
          <p:cNvPr id="52" name="SecName5"/>
          <p:cNvSpPr/>
          <p:nvPr/>
        </p:nvSpPr>
        <p:spPr>
          <a:xfrm>
            <a:off x="1097280" y="2700000"/>
            <a:ext cx="228600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Panel Q&amp;A</a:t>
            </a:r>
          </a:p>
        </p:txBody>
      </p:sp>
      <p:sp>
        <p:nvSpPr>
          <p:cNvPr id="53" name="Focus5"/>
          <p:cNvSpPr/>
          <p:nvPr/>
        </p:nvSpPr>
        <p:spPr>
          <a:xfrm>
            <a:off x="3520440" y="2700000"/>
            <a:ext cx="5166360" cy="2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Be ready to defend your technical trade-offs and product roadmap decisions.</a:t>
            </a:r>
          </a:p>
        </p:txBody>
      </p:sp>
      <p:sp>
        <p:nvSpPr>
          <p:cNvPr id="70" name="FooterBar"/>
          <p:cNvSpPr/>
          <p:nvPr/>
        </p:nvSpPr>
        <p:spPr>
          <a:xfrm>
            <a:off x="0" y="4759200"/>
            <a:ext cx="914400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1" name="FooterText"/>
          <p:cNvSpPr/>
          <p:nvPr/>
        </p:nvSpPr>
        <p:spPr>
          <a:xfrm>
            <a:off x="365760" y="4759200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Palo Alto Networks  ·  Prisma Cloud  ·  Principal PM, Analytics &amp; AI  ·  May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ction 01 Introduction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Panel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2D3A6B"/>
          </a:solidFill>
          <a:ln>
            <a:noFill/>
          </a:ln>
        </p:spPr>
      </p:sp>
      <p:sp>
        <p:nvSpPr>
          <p:cNvPr id="3" name="TealAccent"/>
          <p:cNvSpPr/>
          <p:nvPr/>
        </p:nvSpPr>
        <p:spPr>
          <a:xfrm>
            <a:off x="0" y="0"/>
            <a:ext cx="658368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</p:sp>
      <p:sp>
        <p:nvSpPr>
          <p:cNvPr id="4" name="SectionNumBg"/>
          <p:cNvSpPr/>
          <p:nvPr/>
        </p:nvSpPr>
        <p:spPr>
          <a:xfrm>
            <a:off x="548640" y="1280160"/>
            <a:ext cx="1005840" cy="274320"/>
          </a:xfrm>
          <a:prstGeom prst="roundRect">
            <a:avLst>
              <a:gd name="adj" fmla="val 30000"/>
            </a:avLst>
          </a:prstGeom>
          <a:solidFill>
            <a:srgbClr val="0D9488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200" b="1" spc="300" dirty="0">
                <a:solidFill>
                  <a:srgbClr val="FFFFFF"/>
                </a:solidFill>
              </a:rPr>
              <a:t>01 / INTRO</a:t>
            </a:r>
          </a:p>
        </p:txBody>
      </p:sp>
      <p:sp>
        <p:nvSpPr>
          <p:cNvPr id="5" name="SectionTitle"/>
          <p:cNvSpPr/>
          <p:nvPr/>
        </p:nvSpPr>
        <p:spPr>
          <a:xfrm>
            <a:off x="548640" y="16462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</a:rPr>
              <a:t>Introduction</a:t>
            </a:r>
          </a:p>
        </p:txBody>
      </p:sp>
      <p:sp>
        <p:nvSpPr>
          <p:cNvPr id="6" name="TimeAlloc"/>
          <p:cNvSpPr/>
          <p:nvPr/>
        </p:nvSpPr>
        <p:spPr>
          <a:xfrm>
            <a:off x="54864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5 minutes</a:t>
            </a:r>
          </a:p>
        </p:txBody>
      </p:sp>
      <p:sp>
        <p:nvSpPr>
          <p:cNvPr id="7" name="SectionDesc"/>
          <p:cNvSpPr/>
          <p:nvPr/>
        </p:nvSpPr>
        <p:spPr>
          <a:xfrm>
            <a:off x="548640" y="292608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99BB"/>
                </a:solidFill>
              </a:rPr>
              <a:t>Your background and “Technical PM” philosophy</a:t>
            </a:r>
          </a:p>
        </p:txBody>
      </p:sp>
      <p:sp>
        <p:nvSpPr>
          <p:cNvPr id="8" name="FooterRight"/>
          <p:cNvSpPr/>
          <p:nvPr/>
        </p:nvSpPr>
        <p:spPr>
          <a:xfrm>
            <a:off x="6583680" y="4759200"/>
            <a:ext cx="2560320" cy="38430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algn="ctr">
              <a:buNone/>
            </a:pPr>
            <a:r>
              <a:rPr lang="en-US" sz="900" dirty="0">
                <a:solidFill>
                  <a:srgbClr val="CADCFC"/>
                </a:solidFill>
              </a:rPr>
              <a:t>Principal PM, Analytics &amp; 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echnical PM Philosophy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Eyebrow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ADCFC"/>
                </a:solidFill>
              </a:rPr>
              <a:t>01 / INTRODUCTION</a:t>
            </a:r>
          </a:p>
        </p:txBody>
      </p:sp>
      <p:sp>
        <p:nvSpPr>
          <p:cNvPr id="4" name="Title"/>
          <p:cNvSpPr/>
          <p:nvPr/>
        </p:nvSpPr>
        <p:spPr>
          <a:xfrm>
            <a:off x="457200" y="594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</a:rPr>
              <a:t>What Makes a Technical PM Different</a:t>
            </a:r>
          </a:p>
        </p:txBody>
      </p:sp>
      <p:sp>
        <p:nvSpPr>
          <p:cNvPr id="10" name="Card1Bg"/>
          <p:cNvSpPr/>
          <p:nvPr/>
        </p:nvSpPr>
        <p:spPr>
          <a:xfrm>
            <a:off x="365760" y="1280160"/>
            <a:ext cx="4114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Card1Accent"/>
          <p:cNvSpPr/>
          <p:nvPr/>
        </p:nvSpPr>
        <p:spPr>
          <a:xfrm>
            <a:off x="365760" y="1280160"/>
            <a:ext cx="4114800" cy="54864"/>
          </a:xfrm>
          <a:prstGeom prst="rect">
            <a:avLst/>
          </a:prstGeom>
          <a:solidFill>
            <a:srgbClr val="1E2761"/>
          </a:solidFill>
          <a:ln>
            <a:noFill/>
          </a:ln>
        </p:spPr>
      </p:sp>
      <p:sp>
        <p:nvSpPr>
          <p:cNvPr id="12" name="Card1Text"/>
          <p:cNvSpPr/>
          <p:nvPr/>
        </p:nvSpPr>
        <p:spPr>
          <a:xfrm>
            <a:off x="457200" y="1353312"/>
            <a:ext cx="3840480" cy="1005840"/>
          </a:xfrm>
          <a:prstGeom prst="rect">
            <a:avLst/>
          </a:prstGeom>
          <a:noFill/>
          <a:ln/>
        </p:spPr>
        <p:txBody>
          <a:bodyPr wrap="square" lIns="0" tIns="9144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Spec first, code second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Wrote both product and technical specs (~2,500 lines combined) before touching a single line of pipeline SQL. The spec is the PM’s code.</a:t>
            </a:r>
          </a:p>
        </p:txBody>
      </p:sp>
      <p:sp>
        <p:nvSpPr>
          <p:cNvPr id="20" name="Card2Bg"/>
          <p:cNvSpPr/>
          <p:nvPr/>
        </p:nvSpPr>
        <p:spPr>
          <a:xfrm>
            <a:off x="4663440" y="1280160"/>
            <a:ext cx="4114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Card2Accent"/>
          <p:cNvSpPr/>
          <p:nvPr/>
        </p:nvSpPr>
        <p:spPr>
          <a:xfrm>
            <a:off x="4663440" y="1280160"/>
            <a:ext cx="4114800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</p:sp>
      <p:sp>
        <p:nvSpPr>
          <p:cNvPr id="22" name="Card2Text"/>
          <p:cNvSpPr/>
          <p:nvPr/>
        </p:nvSpPr>
        <p:spPr>
          <a:xfrm>
            <a:off x="4754880" y="1353312"/>
            <a:ext cx="3840480" cy="1005840"/>
          </a:xfrm>
          <a:prstGeom prst="rect">
            <a:avLst/>
          </a:prstGeom>
          <a:noFill/>
          <a:ln/>
        </p:spPr>
        <p:txBody>
          <a:bodyPr wrap="square" lIns="0" tIns="9144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AI as a force multiplier, not a crutch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Used Claude Code to accelerate implementation — not to define strategy. AI executes the spec; the PM writes the spec.</a:t>
            </a:r>
          </a:p>
        </p:txBody>
      </p:sp>
      <p:sp>
        <p:nvSpPr>
          <p:cNvPr id="30" name="Card3Bg"/>
          <p:cNvSpPr/>
          <p:nvPr/>
        </p:nvSpPr>
        <p:spPr>
          <a:xfrm>
            <a:off x="365760" y="2560320"/>
            <a:ext cx="41148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Card3Accent"/>
          <p:cNvSpPr/>
          <p:nvPr/>
        </p:nvSpPr>
        <p:spPr>
          <a:xfrm>
            <a:off x="365760" y="2560320"/>
            <a:ext cx="411480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</p:sp>
      <p:sp>
        <p:nvSpPr>
          <p:cNvPr id="32" name="Card3Text"/>
          <p:cNvSpPr/>
          <p:nvPr/>
        </p:nvSpPr>
        <p:spPr>
          <a:xfrm>
            <a:off x="457200" y="2633472"/>
            <a:ext cx="3840480" cy="1005840"/>
          </a:xfrm>
          <a:prstGeom prst="rect">
            <a:avLst/>
          </a:prstGeom>
          <a:noFill/>
          <a:ln/>
        </p:spPr>
        <p:txBody>
          <a:bodyPr wrap="square" lIns="0" tIns="9144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Full-stack PM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4A5568"/>
                </a:solidFill>
              </a:rPr>
              <a:t>Can write SQL, read BigQuery schema, design a star schema, and understand SCD Type 2 patterns — fluent in the technical details.</a:t>
            </a:r>
          </a:p>
        </p:txBody>
      </p:sp>
      <p:sp>
        <p:nvSpPr>
          <p:cNvPr id="40" name="Card4Bg"/>
          <p:cNvSpPr/>
          <p:nvPr/>
        </p:nvSpPr>
        <p:spPr>
          <a:xfrm>
            <a:off x="4663440" y="2560320"/>
            <a:ext cx="4114800" cy="118872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1" name="Card4Text"/>
          <p:cNvSpPr/>
          <p:nvPr/>
        </p:nvSpPr>
        <p:spPr>
          <a:xfrm>
            <a:off x="4754880" y="2633472"/>
            <a:ext cx="3840480" cy="1005840"/>
          </a:xfrm>
          <a:prstGeom prst="rect">
            <a:avLst/>
          </a:prstGeom>
          <a:noFill/>
          <a:ln/>
        </p:spPr>
        <p:txBody>
          <a:bodyPr wrap="square" lIns="0" tIns="9144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D9488"/>
                </a:solidFill>
              </a:rPr>
              <a:t>Result: spec-driven velocity</a:t>
            </a:r>
          </a:p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Concept → working prototype in weeks. Two specs totaling ~2,500 lines before a single line of pipeline SQL. That’s the method.</a:t>
            </a:r>
          </a:p>
        </p:txBody>
      </p:sp>
      <p:sp>
        <p:nvSpPr>
          <p:cNvPr id="70" name="FooterBar"/>
          <p:cNvSpPr/>
          <p:nvPr/>
        </p:nvSpPr>
        <p:spPr>
          <a:xfrm>
            <a:off x="0" y="4759200"/>
            <a:ext cx="914400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1" name="FooterText"/>
          <p:cNvSpPr/>
          <p:nvPr/>
        </p:nvSpPr>
        <p:spPr>
          <a:xfrm>
            <a:off x="365760" y="4759200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Palo Alto Networks  ·  Prisma Cloud  ·  Principal PM, Analytics &amp; AI  ·  May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ction 02 Context &amp; Problem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Panel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2D3A6B"/>
          </a:solidFill>
          <a:ln>
            <a:noFill/>
          </a:ln>
        </p:spPr>
      </p:sp>
      <p:sp>
        <p:nvSpPr>
          <p:cNvPr id="3" name="TopAccent"/>
          <p:cNvSpPr/>
          <p:nvPr/>
        </p:nvSpPr>
        <p:spPr>
          <a:xfrm>
            <a:off x="0" y="0"/>
            <a:ext cx="65836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</p:sp>
      <p:sp>
        <p:nvSpPr>
          <p:cNvPr id="4" name="SectionNumBg"/>
          <p:cNvSpPr/>
          <p:nvPr/>
        </p:nvSpPr>
        <p:spPr>
          <a:xfrm>
            <a:off x="548640" y="1280160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F9731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200" b="1" spc="300" dirty="0">
                <a:solidFill>
                  <a:srgbClr val="FFFFFF"/>
                </a:solidFill>
              </a:rPr>
              <a:t>02 / SECTION</a:t>
            </a:r>
          </a:p>
        </p:txBody>
      </p:sp>
      <p:sp>
        <p:nvSpPr>
          <p:cNvPr id="5" name="SectionTitle"/>
          <p:cNvSpPr/>
          <p:nvPr/>
        </p:nvSpPr>
        <p:spPr>
          <a:xfrm>
            <a:off x="548640" y="16462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Context &amp; Problem</a:t>
            </a:r>
          </a:p>
        </p:txBody>
      </p:sp>
      <p:sp>
        <p:nvSpPr>
          <p:cNvPr id="6" name="TimeAlloc"/>
          <p:cNvSpPr/>
          <p:nvPr/>
        </p:nvSpPr>
        <p:spPr>
          <a:xfrm>
            <a:off x="548640" y="2651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5 minutes</a:t>
            </a:r>
          </a:p>
        </p:txBody>
      </p:sp>
      <p:sp>
        <p:nvSpPr>
          <p:cNvPr id="7" name="SectionDesc"/>
          <p:cNvSpPr/>
          <p:nvPr/>
        </p:nvSpPr>
        <p:spPr>
          <a:xfrm>
            <a:off x="548640" y="301728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899BB"/>
                </a:solidFill>
              </a:rPr>
              <a:t>Why ARR alone is no longer sufficient for consumption-based businesses</a:t>
            </a:r>
          </a:p>
        </p:txBody>
      </p:sp>
      <p:sp>
        <p:nvSpPr>
          <p:cNvPr id="8" name="FooterRight"/>
          <p:cNvSpPr/>
          <p:nvPr/>
        </p:nvSpPr>
        <p:spPr>
          <a:xfrm>
            <a:off x="6583680" y="4759200"/>
            <a:ext cx="2560320" cy="38430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algn="ctr">
              <a:buNone/>
            </a:pPr>
            <a:r>
              <a:rPr lang="en-US" sz="900" dirty="0">
                <a:solidFill>
                  <a:srgbClr val="CADCFC"/>
                </a:solidFill>
              </a:rPr>
              <a:t>Palo Alto Networks  ·  May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ction 03 Technical Deep Dive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Panel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2D3A6B"/>
          </a:solidFill>
          <a:ln>
            <a:noFill/>
          </a:ln>
        </p:spPr>
      </p:sp>
      <p:sp>
        <p:nvSpPr>
          <p:cNvPr id="3" name="TopAccent"/>
          <p:cNvSpPr/>
          <p:nvPr/>
        </p:nvSpPr>
        <p:spPr>
          <a:xfrm>
            <a:off x="0" y="0"/>
            <a:ext cx="658368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</p:sp>
      <p:sp>
        <p:nvSpPr>
          <p:cNvPr id="4" name="SectionNumBg"/>
          <p:cNvSpPr/>
          <p:nvPr/>
        </p:nvSpPr>
        <p:spPr>
          <a:xfrm>
            <a:off x="548640" y="1280160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8B5CF6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200" b="1" spc="300" dirty="0">
                <a:solidFill>
                  <a:srgbClr val="FFFFFF"/>
                </a:solidFill>
              </a:rPr>
              <a:t>03 / SECTION</a:t>
            </a:r>
          </a:p>
        </p:txBody>
      </p:sp>
      <p:sp>
        <p:nvSpPr>
          <p:cNvPr id="5" name="SectionTitle"/>
          <p:cNvSpPr/>
          <p:nvPr/>
        </p:nvSpPr>
        <p:spPr>
          <a:xfrm>
            <a:off x="548640" y="16462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Technical Deep Dive</a:t>
            </a:r>
          </a:p>
        </p:txBody>
      </p:sp>
      <p:sp>
        <p:nvSpPr>
          <p:cNvPr id="6" name="TimeAlloc"/>
          <p:cNvSpPr/>
          <p:nvPr/>
        </p:nvSpPr>
        <p:spPr>
          <a:xfrm>
            <a:off x="548640" y="2651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15 minutes</a:t>
            </a:r>
          </a:p>
        </p:txBody>
      </p:sp>
      <p:sp>
        <p:nvSpPr>
          <p:cNvPr id="7" name="SectionDesc"/>
          <p:cNvSpPr/>
          <p:nvPr/>
        </p:nvSpPr>
        <p:spPr>
          <a:xfrm>
            <a:off x="548640" y="301728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899BB"/>
                </a:solidFill>
              </a:rPr>
              <a:t>Architecture, pipeline, data model, and spec-driven development</a:t>
            </a:r>
          </a:p>
        </p:txBody>
      </p:sp>
      <p:sp>
        <p:nvSpPr>
          <p:cNvPr id="8" name="FooterRight"/>
          <p:cNvSpPr/>
          <p:nvPr/>
        </p:nvSpPr>
        <p:spPr>
          <a:xfrm>
            <a:off x="6583680" y="4759200"/>
            <a:ext cx="2560320" cy="38430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algn="ctr">
              <a:buNone/>
            </a:pPr>
            <a:r>
              <a:rPr lang="en-US" sz="900" dirty="0">
                <a:solidFill>
                  <a:srgbClr val="CADCFC"/>
                </a:solidFill>
              </a:rPr>
              <a:t>Palo Alto Networks  ·  May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rchitecture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Eyebrow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ADCFC"/>
                </a:solidFill>
              </a:rPr>
              <a:t>03 / TECHNICAL DEEP DIVE</a:t>
            </a:r>
          </a:p>
        </p:txBody>
      </p:sp>
      <p:sp>
        <p:nvSpPr>
          <p:cNvPr id="4" name="Title"/>
          <p:cNvSpPr/>
          <p:nvPr/>
        </p:nvSpPr>
        <p:spPr>
          <a:xfrm>
            <a:off x="457200" y="594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</a:rPr>
              <a:t>Medallion Architecture</a:t>
            </a:r>
          </a:p>
        </p:txBody>
      </p:sp>
      <p:sp>
        <p:nvSpPr>
          <p:cNvPr id="5" name="InsightBg"/>
          <p:cNvSpPr/>
          <p:nvPr/>
        </p:nvSpPr>
        <p:spPr>
          <a:xfrm>
            <a:off x="365760" y="1188720"/>
            <a:ext cx="8412480" cy="2743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182880" tIns="0" rIns="18288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9488"/>
                </a:solidFill>
              </a:rPr>
              <a:t xml:space="preserve">Key insight: </a:t>
            </a:r>
            <a:r>
              <a:rPr lang="en-US" sz="1200" dirty="0">
                <a:solidFill>
                  <a:srgbClr val="CADCFC"/>
                </a:solidFill>
              </a:rPr>
              <a:t>Every downstream system reads a single flat view — no joins required</a:t>
            </a:r>
          </a:p>
        </p:txBody>
      </p:sp>
      <p:sp>
        <p:nvSpPr>
          <p:cNvPr id="10" name="BronzeBg"/>
          <p:cNvSpPr/>
          <p:nvPr/>
        </p:nvSpPr>
        <p:spPr>
          <a:xfrm>
            <a:off x="365760" y="1554480"/>
            <a:ext cx="1920240" cy="960120"/>
          </a:xfrm>
          <a:prstGeom prst="rect">
            <a:avLst/>
          </a:prstGeom>
          <a:solidFill>
            <a:srgbClr val="92400E"/>
          </a:solidFill>
          <a:ln>
            <a:noFill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 wrap="square" lIns="182880" tIns="91440" rIns="91440" bIns="9144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ED7AA"/>
                </a:solidFill>
              </a:rPr>
              <a:t>BRONZE</a:t>
            </a:r>
          </a:p>
          <a:p>
            <a:pPr indent="0" marL="0">
              <a:buNone/>
            </a:pPr>
            <a:r>
              <a:rPr lang="en-US" sz="1000" dirty="0">
                <a:solidFill>
                  <a:srgbClr val="FED7AA"/>
                </a:solidFill>
              </a:rPr>
              <a:t>Raw source tables, as-landed</a:t>
            </a:r>
          </a:p>
          <a:p>
            <a:pPr indent="0" marL="0">
              <a:buNone/>
            </a:pPr>
            <a:r>
              <a:rPr lang="en-US" sz="1000" i="1" dirty="0">
                <a:solidFill>
                  <a:srgbClr val="FBBF24"/>
                </a:solidFill>
              </a:rPr>
              <a:t>sales_reps · accounts</a:t>
            </a:r>
          </a:p>
          <a:p>
            <a:pPr indent="0" marL="0">
              <a:buNone/>
            </a:pPr>
            <a:r>
              <a:rPr lang="en-US" sz="1000" i="1" dirty="0">
                <a:solidFill>
                  <a:srgbClr val="FBBF24"/>
                </a:solidFill>
              </a:rPr>
              <a:t>contracts · daily_usage_logs</a:t>
            </a:r>
          </a:p>
        </p:txBody>
      </p:sp>
      <p:sp>
        <p:nvSpPr>
          <p:cNvPr id="15" name="Arrow1"/>
          <p:cNvSpPr/>
          <p:nvPr/>
        </p:nvSpPr>
        <p:spPr>
          <a:xfrm>
            <a:off x="2377440" y="1920240"/>
            <a:ext cx="365760" cy="22860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</p:txBody>
      </p:sp>
      <p:sp>
        <p:nvSpPr>
          <p:cNvPr id="20" name="SilverBg"/>
          <p:cNvSpPr/>
          <p:nvPr/>
        </p:nvSpPr>
        <p:spPr>
          <a:xfrm>
            <a:off x="2834640" y="1554480"/>
            <a:ext cx="1920240" cy="960120"/>
          </a:xfrm>
          <a:prstGeom prst="rect">
            <a:avLst/>
          </a:prstGeom>
          <a:solidFill>
            <a:srgbClr val="1E3A5F"/>
          </a:solidFill>
          <a:ln>
            <a:noFill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 wrap="square" lIns="182880" tIns="91440" rIns="91440" bIns="9144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FDBFE"/>
                </a:solidFill>
              </a:rPr>
              <a:t>SILVER</a:t>
            </a:r>
          </a:p>
          <a:p>
            <a:pPr indent="0" marL="0">
              <a:buNone/>
            </a:pPr>
            <a:r>
              <a:rPr lang="en-US" sz="1000" dirty="0">
                <a:solidFill>
                  <a:srgbClr val="BFDBFE"/>
                </a:solidFill>
              </a:rPr>
              <a:t>Cleaned, conformed, edge cases resolved</a:t>
            </a:r>
          </a:p>
          <a:p>
            <a:pPr indent="0" marL="0">
              <a:buNone/>
            </a:pPr>
            <a:r>
              <a:rPr lang="en-US" sz="1000" i="1" dirty="0">
                <a:solidFill>
                  <a:srgbClr val="93C5FD"/>
                </a:solidFill>
              </a:rPr>
              <a:t>active_contracts</a:t>
            </a:r>
          </a:p>
          <a:p>
            <a:pPr indent="0" marL="0">
              <a:buNone/>
            </a:pPr>
            <a:r>
              <a:rPr lang="en-US" sz="1000" i="1" dirty="0">
                <a:solidFill>
                  <a:srgbClr val="93C5FD"/>
                </a:solidFill>
              </a:rPr>
              <a:t>daily_consumption</a:t>
            </a:r>
          </a:p>
        </p:txBody>
      </p:sp>
      <p:sp>
        <p:nvSpPr>
          <p:cNvPr id="25" name="Arrow2"/>
          <p:cNvSpPr/>
          <p:nvPr/>
        </p:nvSpPr>
        <p:spPr>
          <a:xfrm>
            <a:off x="4846320" y="1920240"/>
            <a:ext cx="365760" cy="22860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</p:txBody>
      </p:sp>
      <p:sp>
        <p:nvSpPr>
          <p:cNvPr id="30" name="GoldBg"/>
          <p:cNvSpPr/>
          <p:nvPr/>
        </p:nvSpPr>
        <p:spPr>
          <a:xfrm>
            <a:off x="5303520" y="1554480"/>
            <a:ext cx="1920240" cy="960120"/>
          </a:xfrm>
          <a:prstGeom prst="rect">
            <a:avLst/>
          </a:prstGeom>
          <a:solidFill>
            <a:srgbClr val="1E2761"/>
          </a:solidFill>
          <a:ln>
            <a:noFill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 wrap="square" lIns="182880" tIns="91440" rIns="91440" bIns="9144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BBF24"/>
                </a:solidFill>
              </a:rPr>
              <a:t>GOLD</a:t>
            </a:r>
          </a:p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Star schema — dims + fact table</a:t>
            </a:r>
          </a:p>
          <a:p>
            <a:pPr indent="0" marL="0">
              <a:buNone/>
            </a:pPr>
            <a:r>
              <a:rPr lang="en-US" sz="1000" i="1" dirty="0">
                <a:solidFill>
                  <a:srgbClr val="FDE68A"/>
                </a:solidFill>
              </a:rPr>
              <a:t>fact_cacv_snapshot</a:t>
            </a:r>
          </a:p>
          <a:p>
            <a:pPr indent="0" marL="0">
              <a:buNone/>
            </a:pPr>
            <a:r>
              <a:rPr lang="en-US" sz="1000" i="1" dirty="0">
                <a:solidFill>
                  <a:srgbClr val="FDE68A"/>
                </a:solidFill>
              </a:rPr>
              <a:t>dim_reps, dim_accounts, dim_contracts</a:t>
            </a:r>
          </a:p>
        </p:txBody>
      </p:sp>
      <p:sp>
        <p:nvSpPr>
          <p:cNvPr id="35" name="Arrow3"/>
          <p:cNvSpPr/>
          <p:nvPr/>
        </p:nvSpPr>
        <p:spPr>
          <a:xfrm>
            <a:off x="7315200" y="1920240"/>
            <a:ext cx="365760" cy="22860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</p:txBody>
      </p:sp>
      <p:sp>
        <p:nvSpPr>
          <p:cNvPr id="40" name="SemanticBg"/>
          <p:cNvSpPr/>
          <p:nvPr/>
        </p:nvSpPr>
        <p:spPr>
          <a:xfrm>
            <a:off x="7772400" y="1554480"/>
            <a:ext cx="1005840" cy="96012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 wrap="square" lIns="91440" tIns="91440" rIns="91440" bIns="91440" rtlCol="0" anchor="ctr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SEMANTIC</a:t>
            </a:r>
          </a:p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</a:rPr>
              <a:t>LAYER</a:t>
            </a:r>
          </a:p>
          <a:p>
            <a:pPr algn="ctr">
              <a:buNone/>
            </a:pPr>
            <a:r>
              <a:rPr lang="en-US" sz="900" dirty="0">
                <a:solidFill>
                  <a:srgbClr val="CCFBF1"/>
                </a:solidFill>
              </a:rPr>
              <a:t>flat views</a:t>
            </a:r>
          </a:p>
        </p:txBody>
      </p:sp>
      <p:sp>
        <p:nvSpPr>
          <p:cNvPr id="55" name="ConsumersLabel"/>
          <p:cNvSpPr/>
          <p:nvPr/>
        </p:nvSpPr>
        <p:spPr>
          <a:xfrm>
            <a:off x="365760" y="2606040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900" b="1" spc="200" dirty="0">
                <a:solidFill>
                  <a:srgbClr val="94A3B8"/>
                </a:solidFill>
              </a:rPr>
              <a:t>DOWNSTREAM CONSUMERS (read single flat view — no joins)</a:t>
            </a:r>
          </a:p>
        </p:txBody>
      </p:sp>
      <p:sp>
        <p:nvSpPr>
          <p:cNvPr id="50" name="Con1"/>
          <p:cNvSpPr/>
          <p:nvPr/>
        </p:nvSpPr>
        <p:spPr>
          <a:xfrm>
            <a:off x="365760" y="2834640"/>
            <a:ext cx="1829880" cy="274320"/>
          </a:xfrm>
          <a:prstGeom prst="roundRect">
            <a:avLst>
              <a:gd name="adj" fmla="val 15000"/>
            </a:avLst>
          </a:prstGeom>
          <a:solidFill>
            <a:srgbClr val="EEF2FF"/>
          </a:solidFill>
          <a:ln w="9525">
            <a:solidFill>
              <a:srgbClr val="1E2761"/>
            </a:solidFill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1E2761"/>
                </a:solidFill>
              </a:rPr>
              <a:t>Exec Dashboard</a:t>
            </a:r>
          </a:p>
        </p:txBody>
      </p:sp>
      <p:sp>
        <p:nvSpPr>
          <p:cNvPr id="51" name="Con2"/>
          <p:cNvSpPr/>
          <p:nvPr/>
        </p:nvSpPr>
        <p:spPr>
          <a:xfrm>
            <a:off x="2377440" y="2834640"/>
            <a:ext cx="1829880" cy="274320"/>
          </a:xfrm>
          <a:prstGeom prst="roundRect">
            <a:avLst>
              <a:gd name="adj" fmla="val 15000"/>
            </a:avLst>
          </a:prstGeom>
          <a:solidFill>
            <a:srgbClr val="FFF7ED"/>
          </a:solidFill>
          <a:ln w="9525">
            <a:solidFill>
              <a:srgbClr val="F97316"/>
            </a:solidFill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C2410C"/>
                </a:solidFill>
              </a:rPr>
              <a:t>Salesforce</a:t>
            </a:r>
          </a:p>
        </p:txBody>
      </p:sp>
      <p:sp>
        <p:nvSpPr>
          <p:cNvPr id="52" name="Con3"/>
          <p:cNvSpPr/>
          <p:nvPr/>
        </p:nvSpPr>
        <p:spPr>
          <a:xfrm>
            <a:off x="4389120" y="2834640"/>
            <a:ext cx="1829880" cy="274320"/>
          </a:xfrm>
          <a:prstGeom prst="roundRect">
            <a:avLst>
              <a:gd name="adj" fmla="val 15000"/>
            </a:avLst>
          </a:prstGeom>
          <a:solidFill>
            <a:srgbClr val="F0FDF4"/>
          </a:solidFill>
          <a:ln w="9525">
            <a:solidFill>
              <a:srgbClr val="10B981"/>
            </a:solidFill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065F46"/>
                </a:solidFill>
              </a:rPr>
              <a:t>Comp Platform</a:t>
            </a:r>
          </a:p>
        </p:txBody>
      </p:sp>
      <p:sp>
        <p:nvSpPr>
          <p:cNvPr id="53" name="Con4"/>
          <p:cNvSpPr/>
          <p:nvPr/>
        </p:nvSpPr>
        <p:spPr>
          <a:xfrm>
            <a:off x="6400800" y="2834640"/>
            <a:ext cx="1829880" cy="274320"/>
          </a:xfrm>
          <a:prstGeom prst="roundRect">
            <a:avLst>
              <a:gd name="adj" fmla="val 15000"/>
            </a:avLst>
          </a:prstGeom>
          <a:solidFill>
            <a:srgbClr val="FAF5FF"/>
          </a:solidFill>
          <a:ln w="9525">
            <a:solidFill>
              <a:srgbClr val="8B5CF6"/>
            </a:solidFill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5B21B6"/>
                </a:solidFill>
              </a:rPr>
              <a:t>Gainsight CS</a:t>
            </a:r>
          </a:p>
        </p:txBody>
      </p:sp>
      <p:sp>
        <p:nvSpPr>
          <p:cNvPr id="60" name="DQCallout"/>
          <p:cNvSpPr/>
          <p:nvPr/>
        </p:nvSpPr>
        <p:spPr>
          <a:xfrm>
            <a:off x="365760" y="3291840"/>
            <a:ext cx="8412480" cy="274320"/>
          </a:xfrm>
          <a:prstGeom prst="rect">
            <a:avLst/>
          </a:prstGeom>
          <a:solidFill>
            <a:srgbClr val="F0FDF4"/>
          </a:solidFill>
          <a:ln w="9525">
            <a:solidFill>
              <a:srgbClr val="10B981"/>
            </a:solidFill>
          </a:ln>
        </p:spPr>
        <p:txBody>
          <a:bodyPr wrap="square" lIns="182880" tIns="0" rIns="18288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65F46"/>
                </a:solidFill>
              </a:rPr>
              <a:t xml:space="preserve">Data quality gates: </a:t>
            </a:r>
            <a:r>
              <a:rPr lang="en-US" sz="1100" dirty="0">
                <a:solidFill>
                  <a:srgbClr val="065F46"/>
                </a:solidFill>
              </a:rPr>
              <a:t>11 automated assertions on Bronze tables must pass before Silver loads</a:t>
            </a:r>
          </a:p>
        </p:txBody>
      </p:sp>
      <p:sp>
        <p:nvSpPr>
          <p:cNvPr id="61" name="TechStack"/>
          <p:cNvSpPr/>
          <p:nvPr/>
        </p:nvSpPr>
        <p:spPr>
          <a:xfrm>
            <a:off x="365760" y="3657600"/>
            <a:ext cx="8412480" cy="274320"/>
          </a:xfrm>
          <a:prstGeom prst="rect">
            <a:avLst/>
          </a:prstGeom>
          <a:solidFill>
            <a:srgbClr val="EEF2FF"/>
          </a:solidFill>
          <a:ln w="9525">
            <a:solidFill>
              <a:srgbClr val="1E2761"/>
            </a:solidFill>
          </a:ln>
        </p:spPr>
        <p:txBody>
          <a:bodyPr wrap="square" lIns="182880" tIns="0" rIns="18288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 xml:space="preserve">Stack: </a:t>
            </a:r>
            <a:r>
              <a:rPr lang="en-US" sz="1100" dirty="0">
                <a:solidFill>
                  <a:srgbClr val="1E2761"/>
                </a:solidFill>
              </a:rPr>
              <a:t>BigQuery SQL (dbt-style)  ·  Python / Streamlit dashboard  ·  Reverse ETL to Salesforce, Xactly, Gainsight</a:t>
            </a:r>
          </a:p>
        </p:txBody>
      </p:sp>
      <p:sp>
        <p:nvSpPr>
          <p:cNvPr id="70" name="FooterBar"/>
          <p:cNvSpPr/>
          <p:nvPr/>
        </p:nvSpPr>
        <p:spPr>
          <a:xfrm>
            <a:off x="0" y="4759200"/>
            <a:ext cx="914400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1" name="FooterText"/>
          <p:cNvSpPr/>
          <p:nvPr/>
        </p:nvSpPr>
        <p:spPr>
          <a:xfrm>
            <a:off x="365760" y="4759200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Palo Alto Networks  ·  Prisma Cloud  ·  Principal PM, Analytics &amp; AI  ·  May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pec-Driven AI Development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Eyebrow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ADCFC"/>
                </a:solidFill>
              </a:rPr>
              <a:t>03 / TECHNICAL DEEP DIVE</a:t>
            </a:r>
          </a:p>
        </p:txBody>
      </p:sp>
      <p:sp>
        <p:nvSpPr>
          <p:cNvPr id="4" name="Title"/>
          <p:cNvSpPr/>
          <p:nvPr/>
        </p:nvSpPr>
        <p:spPr>
          <a:xfrm>
            <a:off x="457200" y="594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</a:rPr>
              <a:t>Spec-Driven AI Development</a:t>
            </a:r>
          </a:p>
        </p:txBody>
      </p:sp>
      <p:sp>
        <p:nvSpPr>
          <p:cNvPr id="10" name="Step1"/>
          <p:cNvSpPr/>
          <p:nvPr/>
        </p:nvSpPr>
        <p:spPr>
          <a:xfrm>
            <a:off x="365760" y="1280160"/>
            <a:ext cx="1554480" cy="685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91440" rIns="91440" bIns="91440" rtlCol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0D9488"/>
                </a:solidFill>
              </a:rPr>
              <a:t>1</a:t>
            </a:r>
          </a:p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Product</a:t>
            </a:r>
          </a:p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Spec</a:t>
            </a:r>
          </a:p>
        </p:txBody>
      </p:sp>
      <p:sp>
        <p:nvSpPr>
          <p:cNvPr id="11" name="Arr1"/>
          <p:cNvSpPr/>
          <p:nvPr/>
        </p:nvSpPr>
        <p:spPr>
          <a:xfrm>
            <a:off x="2011680" y="1554480"/>
            <a:ext cx="274320" cy="18288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</p:txBody>
      </p:sp>
      <p:sp>
        <p:nvSpPr>
          <p:cNvPr id="20" name="Step2"/>
          <p:cNvSpPr/>
          <p:nvPr/>
        </p:nvSpPr>
        <p:spPr>
          <a:xfrm>
            <a:off x="2377440" y="1280160"/>
            <a:ext cx="1554480" cy="685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91440" rIns="91440" bIns="91440" rtlCol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8B5CF6"/>
                </a:solidFill>
              </a:rPr>
              <a:t>2</a:t>
            </a:r>
          </a:p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Technical</a:t>
            </a:r>
          </a:p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Spec</a:t>
            </a:r>
          </a:p>
        </p:txBody>
      </p:sp>
      <p:sp>
        <p:nvSpPr>
          <p:cNvPr id="21" name="Arr2"/>
          <p:cNvSpPr/>
          <p:nvPr/>
        </p:nvSpPr>
        <p:spPr>
          <a:xfrm>
            <a:off x="4023360" y="1554480"/>
            <a:ext cx="274320" cy="18288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</p:txBody>
      </p:sp>
      <p:sp>
        <p:nvSpPr>
          <p:cNvPr id="30" name="Step3"/>
          <p:cNvSpPr/>
          <p:nvPr/>
        </p:nvSpPr>
        <p:spPr>
          <a:xfrm>
            <a:off x="4389120" y="1280160"/>
            <a:ext cx="1554480" cy="685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txBody>
          <a:bodyPr wrap="square" lIns="91440" tIns="91440" rIns="91440" bIns="91440" rtlCol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</a:p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AI-Assisted</a:t>
            </a:r>
          </a:p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Pipeline Build</a:t>
            </a:r>
          </a:p>
        </p:txBody>
      </p:sp>
      <p:sp>
        <p:nvSpPr>
          <p:cNvPr id="31" name="Arr3"/>
          <p:cNvSpPr/>
          <p:nvPr/>
        </p:nvSpPr>
        <p:spPr>
          <a:xfrm>
            <a:off x="6035040" y="1554480"/>
            <a:ext cx="274320" cy="18288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</p:txBody>
      </p:sp>
      <p:sp>
        <p:nvSpPr>
          <p:cNvPr id="40" name="Step4"/>
          <p:cNvSpPr/>
          <p:nvPr/>
        </p:nvSpPr>
        <p:spPr>
          <a:xfrm>
            <a:off x="6400800" y="1280160"/>
            <a:ext cx="1280160" cy="685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wrap="square" lIns="91440" tIns="91440" rIns="91440" bIns="91440" rtlCol="0" anchor="ctr"/>
          <a:lstStyle/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</a:p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QA &amp;</a:t>
            </a:r>
          </a:p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Test Suite</a:t>
            </a:r>
          </a:p>
        </p:txBody>
      </p:sp>
      <p:sp>
        <p:nvSpPr>
          <p:cNvPr id="41" name="Arr4"/>
          <p:cNvSpPr/>
          <p:nvPr/>
        </p:nvSpPr>
        <p:spPr>
          <a:xfrm>
            <a:off x="7772400" y="1554480"/>
            <a:ext cx="274320" cy="182880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</p:txBody>
      </p:sp>
      <p:sp>
        <p:nvSpPr>
          <p:cNvPr id="50" name="Step5"/>
          <p:cNvSpPr/>
          <p:nvPr/>
        </p:nvSpPr>
        <p:spPr>
          <a:xfrm>
            <a:off x="8138160" y="1280160"/>
            <a:ext cx="822960" cy="6858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 wrap="square" lIns="45720" tIns="91440" rIns="45720" bIns="91440" rtlCol="0" anchor="ctr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</a:p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Proto-</a:t>
            </a:r>
          </a:p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</a:rPr>
              <a:t>type</a:t>
            </a:r>
          </a:p>
        </p:txBody>
      </p:sp>
      <p:sp>
        <p:nvSpPr>
          <p:cNvPr id="60" name="Stat1Bg"/>
          <p:cNvSpPr/>
          <p:nvPr/>
        </p:nvSpPr>
        <p:spPr>
          <a:xfrm>
            <a:off x="365760" y="2285280"/>
            <a:ext cx="20116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wrap="square" lIns="91440" tIns="91440" rIns="91440" bIns="91440" rtlCol="0" anchor="ctr"/>
          <a:lstStyle/>
          <a:p>
            <a:pPr algn="ctr">
              <a:buNone/>
            </a:pPr>
            <a:r>
              <a:rPr lang="en-US" sz="4000" b="1" dirty="0">
                <a:solidFill>
                  <a:srgbClr val="1E2761"/>
                </a:solidFill>
              </a:rPr>
              <a:t>~2,500</a:t>
            </a:r>
          </a:p>
          <a:p>
            <a:pPr algn="ctr">
              <a:buNone/>
            </a:pPr>
            <a:r>
              <a:rPr lang="en-US" sz="1200" dirty="0">
                <a:solidFill>
                  <a:srgbClr val="4A5568"/>
                </a:solidFill>
              </a:rPr>
              <a:t>lines of specs written before first SQL</a:t>
            </a:r>
          </a:p>
        </p:txBody>
      </p:sp>
      <p:sp>
        <p:nvSpPr>
          <p:cNvPr id="61" name="Stat2Bg"/>
          <p:cNvSpPr/>
          <p:nvPr/>
        </p:nvSpPr>
        <p:spPr>
          <a:xfrm>
            <a:off x="2468880" y="2285280"/>
            <a:ext cx="20116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wrap="square" lIns="91440" tIns="91440" rIns="91440" bIns="91440" rtlCol="0" anchor="ctr"/>
          <a:lstStyle/>
          <a:p>
            <a:pPr algn="ctr">
              <a:buNone/>
            </a:pPr>
            <a:r>
              <a:rPr lang="en-US" sz="2800" b="1" dirty="0">
                <a:solidFill>
                  <a:srgbClr val="0D9488"/>
                </a:solidFill>
              </a:rPr>
              <a:t>BigQuery</a:t>
            </a:r>
          </a:p>
          <a:p>
            <a:pPr algn="ctr">
              <a:buNone/>
            </a:pPr>
            <a:r>
              <a:rPr lang="en-US" sz="1200" dirty="0">
                <a:solidFill>
                  <a:srgbClr val="4A5568"/>
                </a:solidFill>
              </a:rPr>
              <a:t>SQL pipeline, dbt-style medallion architecture</a:t>
            </a:r>
          </a:p>
        </p:txBody>
      </p:sp>
      <p:sp>
        <p:nvSpPr>
          <p:cNvPr id="62" name="Stat3Bg"/>
          <p:cNvSpPr/>
          <p:nvPr/>
        </p:nvSpPr>
        <p:spPr>
          <a:xfrm>
            <a:off x="4572000" y="2285280"/>
            <a:ext cx="20116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wrap="square" lIns="91440" tIns="91440" rIns="91440" bIns="91440" rtlCol="0" anchor="ctr"/>
          <a:lstStyle/>
          <a:p>
            <a:pPr algn="ctr">
              <a:buNone/>
            </a:pPr>
            <a:r>
              <a:rPr lang="en-US" sz="4000" b="1" dirty="0">
                <a:solidFill>
                  <a:srgbClr val="10B981"/>
                </a:solidFill>
              </a:rPr>
              <a:t>11</a:t>
            </a:r>
          </a:p>
          <a:p>
            <a:pPr algn="ctr">
              <a:buNone/>
            </a:pPr>
            <a:r>
              <a:rPr lang="en-US" sz="1200" dirty="0">
                <a:solidFill>
                  <a:srgbClr val="4A5568"/>
                </a:solidFill>
              </a:rPr>
              <a:t>data quality assertions gate the pipeline</a:t>
            </a:r>
          </a:p>
        </p:txBody>
      </p:sp>
      <p:sp>
        <p:nvSpPr>
          <p:cNvPr id="63" name="Stat4Bg"/>
          <p:cNvSpPr/>
          <p:nvPr/>
        </p:nvSpPr>
        <p:spPr>
          <a:xfrm>
            <a:off x="6675120" y="2285280"/>
            <a:ext cx="21028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 wrap="square" lIns="91440" tIns="91440" rIns="91440" bIns="91440" rtlCol="0" anchor="ctr"/>
          <a:lstStyle/>
          <a:p>
            <a:pPr algn="ctr">
              <a:buNone/>
            </a:pPr>
            <a:r>
              <a:rPr lang="en-US" sz="4000" b="1" dirty="0">
                <a:solidFill>
                  <a:srgbClr val="8B5CF6"/>
                </a:solidFill>
              </a:rPr>
              <a:t>3</a:t>
            </a:r>
          </a:p>
          <a:p>
            <a:pPr algn="ctr">
              <a:buNone/>
            </a:pPr>
            <a:r>
              <a:rPr lang="en-US" sz="1200" dirty="0">
                <a:solidFill>
                  <a:srgbClr val="4A5568"/>
                </a:solidFill>
              </a:rPr>
              <a:t>layer test suite: DQ, metric correctness, dashboard smoke</a:t>
            </a:r>
          </a:p>
        </p:txBody>
      </p:sp>
      <p:sp>
        <p:nvSpPr>
          <p:cNvPr id="65" name="BottomCallout"/>
          <p:cNvSpPr/>
          <p:nvPr/>
        </p:nvSpPr>
        <p:spPr>
          <a:xfrm>
            <a:off x="365760" y="3474720"/>
            <a:ext cx="8412480" cy="2743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182880" tIns="0" rIns="18288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0D9488"/>
                </a:solidFill>
              </a:rPr>
              <a:t xml:space="preserve">“The spec is the PM’s code.” </a:t>
            </a:r>
            <a:r>
              <a:rPr lang="en-US" sz="1200" dirty="0">
                <a:solidFill>
                  <a:srgbClr val="CADCFC"/>
                </a:solidFill>
              </a:rPr>
              <a:t>AI executes the spec; I write the spec — and I’m accountable for every line.</a:t>
            </a:r>
          </a:p>
        </p:txBody>
      </p:sp>
      <p:sp>
        <p:nvSpPr>
          <p:cNvPr id="70" name="FooterBar"/>
          <p:cNvSpPr/>
          <p:nvPr/>
        </p:nvSpPr>
        <p:spPr>
          <a:xfrm>
            <a:off x="0" y="4759200"/>
            <a:ext cx="914400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1" name="FooterText"/>
          <p:cNvSpPr/>
          <p:nvPr/>
        </p:nvSpPr>
        <p:spPr>
          <a:xfrm>
            <a:off x="365760" y="4759200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Palo Alto Networks  ·  Prisma Cloud  ·  Principal PM, Analytics &amp; AI  ·  May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ction 04 Evaluation &amp; Results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Panel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2D3A6B"/>
          </a:solidFill>
          <a:ln>
            <a:noFill/>
          </a:ln>
        </p:spPr>
      </p:sp>
      <p:sp>
        <p:nvSpPr>
          <p:cNvPr id="3" name="TopAccent"/>
          <p:cNvSpPr/>
          <p:nvPr/>
        </p:nvSpPr>
        <p:spPr>
          <a:xfrm>
            <a:off x="0" y="0"/>
            <a:ext cx="658368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4" name="SectionNumBg"/>
          <p:cNvSpPr/>
          <p:nvPr/>
        </p:nvSpPr>
        <p:spPr>
          <a:xfrm>
            <a:off x="548640" y="1280160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10B981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200" b="1" spc="300" dirty="0">
                <a:solidFill>
                  <a:srgbClr val="FFFFFF"/>
                </a:solidFill>
              </a:rPr>
              <a:t>04 / SECTION</a:t>
            </a:r>
          </a:p>
        </p:txBody>
      </p:sp>
      <p:sp>
        <p:nvSpPr>
          <p:cNvPr id="5" name="SectionTitle"/>
          <p:cNvSpPr/>
          <p:nvPr/>
        </p:nvSpPr>
        <p:spPr>
          <a:xfrm>
            <a:off x="548640" y="16462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</a:rPr>
              <a:t>Evaluation &amp; Results</a:t>
            </a:r>
          </a:p>
        </p:txBody>
      </p:sp>
      <p:sp>
        <p:nvSpPr>
          <p:cNvPr id="6" name="TimeAlloc"/>
          <p:cNvSpPr/>
          <p:nvPr/>
        </p:nvSpPr>
        <p:spPr>
          <a:xfrm>
            <a:off x="548640" y="2651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10 minutes</a:t>
            </a:r>
          </a:p>
        </p:txBody>
      </p:sp>
      <p:sp>
        <p:nvSpPr>
          <p:cNvPr id="7" name="SectionDesc"/>
          <p:cNvSpPr/>
          <p:nvPr/>
        </p:nvSpPr>
        <p:spPr>
          <a:xfrm>
            <a:off x="548640" y="301728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899BB"/>
                </a:solidFill>
              </a:rPr>
              <a:t>Validation, metrics that mattered, and the hard truths learned</a:t>
            </a:r>
          </a:p>
        </p:txBody>
      </p:sp>
      <p:sp>
        <p:nvSpPr>
          <p:cNvPr id="8" name="FooterRight"/>
          <p:cNvSpPr/>
          <p:nvPr/>
        </p:nvSpPr>
        <p:spPr>
          <a:xfrm>
            <a:off x="6583680" y="4759200"/>
            <a:ext cx="2560320" cy="384300"/>
          </a:xfrm>
          <a:prstGeom prst="rect">
            <a:avLst/>
          </a:prstGeom>
          <a:noFill/>
          <a:ln/>
        </p:spPr>
        <p:txBody>
          <a:bodyPr wrap="square" lIns="91440" tIns="0" rIns="91440" bIns="0" rtlCol="0" anchor="ctr"/>
          <a:lstStyle/>
          <a:p>
            <a:pPr algn="ctr">
              <a:buNone/>
            </a:pPr>
            <a:r>
              <a:rPr lang="en-US" sz="900" dirty="0">
                <a:solidFill>
                  <a:srgbClr val="CADCFC"/>
                </a:solidFill>
              </a:rPr>
              <a:t>Palo Alto Networks  ·  May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How We Validated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Eyebrow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ADCFC"/>
                </a:solidFill>
              </a:rPr>
              <a:t>04 / EVALUATION &amp; RESULTS</a:t>
            </a:r>
          </a:p>
        </p:txBody>
      </p:sp>
      <p:sp>
        <p:nvSpPr>
          <p:cNvPr id="4" name="Title"/>
          <p:cNvSpPr/>
          <p:nvPr/>
        </p:nvSpPr>
        <p:spPr>
          <a:xfrm>
            <a:off x="457200" y="594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</a:rPr>
              <a:t>How We Validated</a:t>
            </a:r>
          </a:p>
        </p:txBody>
      </p:sp>
      <p:sp>
        <p:nvSpPr>
          <p:cNvPr id="5" name="Intro"/>
          <p:cNvSpPr/>
          <p:nvPr/>
        </p:nvSpPr>
        <p:spPr>
          <a:xfrm>
            <a:off x="457200" y="11887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</a:rPr>
              <a:t>Three independent test layers — each gates the next stage of the pipeline</a:t>
            </a:r>
          </a:p>
        </p:txBody>
      </p:sp>
      <p:sp>
        <p:nvSpPr>
          <p:cNvPr id="10" name="Layer1Bg"/>
          <p:cNvSpPr/>
          <p:nvPr/>
        </p:nvSpPr>
        <p:spPr>
          <a:xfrm>
            <a:off x="365760" y="1554480"/>
            <a:ext cx="26517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Layer1Bar"/>
          <p:cNvSpPr/>
          <p:nvPr/>
        </p:nvSpPr>
        <p:spPr>
          <a:xfrm>
            <a:off x="365760" y="1554480"/>
            <a:ext cx="265176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12" name="Layer1Text"/>
          <p:cNvSpPr/>
          <p:nvPr/>
        </p:nvSpPr>
        <p:spPr>
          <a:xfrm>
            <a:off x="457200" y="1627680"/>
            <a:ext cx="2468880" cy="1737360"/>
          </a:xfrm>
          <a:prstGeom prst="rect">
            <a:avLst/>
          </a:prstGeom>
          <a:noFill/>
          <a:ln/>
        </p:spPr>
        <p:txBody>
          <a:bodyPr wrap="square" lIns="0" tIns="9144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0B981"/>
                </a:solidFill>
              </a:rPr>
              <a:t>Layer 1</a:t>
            </a:r>
          </a:p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Data Quality</a:t>
            </a:r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11 automated assertions on Bronze tables</a:t>
            </a:r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/>
            </a:r>
          </a:p>
          <a:p>
            <a:pPr indent="0" marL="0">
              <a:buNone/>
            </a:pPr>
            <a:r>
              <a:rPr lang="en-US" sz="1000" dirty="0">
                <a:solidFill>
                  <a:srgbClr val="EF4444"/>
                </a:solidFill>
              </a:rPr>
              <a:t>6 ERROR blocks</a:t>
            </a:r>
          </a:p>
          <a:p>
            <a:pPr indent="0" marL="0">
              <a:buNone/>
            </a:pPr>
            <a:r>
              <a:rPr lang="en-US" sz="1000" dirty="0">
                <a:solidFill>
                  <a:srgbClr val="F97316"/>
                </a:solidFill>
              </a:rPr>
              <a:t>2 WARNING checks</a:t>
            </a:r>
          </a:p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3 INFO checks</a:t>
            </a:r>
          </a:p>
          <a:p>
            <a:pPr indent="0" marL="0">
              <a:buNone/>
            </a:pPr>
            <a:r>
              <a:rPr lang="en-US" sz="1000" i="1" dirty="0">
                <a:solidFill>
                  <a:srgbClr val="4A5568"/>
                </a:solidFill>
              </a:rPr>
              <a:t>Gates pipeline before Silver loads</a:t>
            </a:r>
          </a:p>
        </p:txBody>
      </p:sp>
      <p:sp>
        <p:nvSpPr>
          <p:cNvPr id="20" name="Layer2Bg"/>
          <p:cNvSpPr/>
          <p:nvPr/>
        </p:nvSpPr>
        <p:spPr>
          <a:xfrm>
            <a:off x="3200400" y="1554480"/>
            <a:ext cx="26517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Layer2Bar"/>
          <p:cNvSpPr/>
          <p:nvPr/>
        </p:nvSpPr>
        <p:spPr>
          <a:xfrm>
            <a:off x="3200400" y="1554480"/>
            <a:ext cx="265176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</p:sp>
      <p:sp>
        <p:nvSpPr>
          <p:cNvPr id="22" name="Layer2Text"/>
          <p:cNvSpPr/>
          <p:nvPr/>
        </p:nvSpPr>
        <p:spPr>
          <a:xfrm>
            <a:off x="3292080" y="1627680"/>
            <a:ext cx="2468880" cy="1737360"/>
          </a:xfrm>
          <a:prstGeom prst="rect">
            <a:avLst/>
          </a:prstGeom>
          <a:noFill/>
          <a:ln/>
        </p:spPr>
        <p:txBody>
          <a:bodyPr wrap="square" lIns="0" tIns="9144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8B5CF6"/>
                </a:solidFill>
              </a:rPr>
              <a:t>Layer 2</a:t>
            </a:r>
          </a:p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Metric Correctness</a:t>
            </a:r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9 regression scenarios</a:t>
            </a:r>
          </a:p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healthy / shelfware / inactive</a:t>
            </a:r>
          </a:p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expansion / ramping / spike-drop</a:t>
            </a:r>
          </a:p>
          <a:p>
            <a:pPr indent="0" marL="0">
              <a:buNone/>
            </a:pPr>
            <a:r>
              <a:rPr lang="en-US" sz="1000" i="1" dirty="0">
                <a:solidFill>
                  <a:srgbClr val="4A5568"/>
                </a:solidFill>
              </a:rPr>
              <a:t>If cARR changes unexpectedly, something broke</a:t>
            </a:r>
          </a:p>
          <a:p>
            <a:pPr indent="0" marL="0">
              <a:buNone/>
            </a:pPr>
            <a:r>
              <a:rPr lang="en-US" sz="1000" i="1" dirty="0">
                <a:solidFill>
                  <a:srgbClr val="4A5568"/>
                </a:solidFill>
              </a:rPr>
              <a:t>Gates dashboard deploy</a:t>
            </a:r>
          </a:p>
        </p:txBody>
      </p:sp>
      <p:sp>
        <p:nvSpPr>
          <p:cNvPr id="30" name="Layer3Bg"/>
          <p:cNvSpPr/>
          <p:nvPr/>
        </p:nvSpPr>
        <p:spPr>
          <a:xfrm>
            <a:off x="6035040" y="1554480"/>
            <a:ext cx="26517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Layer3Bar"/>
          <p:cNvSpPr/>
          <p:nvPr/>
        </p:nvSpPr>
        <p:spPr>
          <a:xfrm>
            <a:off x="6035040" y="1554480"/>
            <a:ext cx="265176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</p:sp>
      <p:sp>
        <p:nvSpPr>
          <p:cNvPr id="32" name="Layer3Text"/>
          <p:cNvSpPr/>
          <p:nvPr/>
        </p:nvSpPr>
        <p:spPr>
          <a:xfrm>
            <a:off x="6126720" y="1627680"/>
            <a:ext cx="2468880" cy="1737360"/>
          </a:xfrm>
          <a:prstGeom prst="rect">
            <a:avLst/>
          </a:prstGeom>
          <a:noFill/>
          <a:ln/>
        </p:spPr>
        <p:txBody>
          <a:bodyPr wrap="square" lIns="0" tIns="9144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97316"/>
                </a:solidFill>
              </a:rPr>
              <a:t>Layer 3</a:t>
            </a:r>
          </a:p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Dashboard Smoke</a:t>
            </a:r>
          </a:p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</a:rPr>
              <a:t>All 4 tabs render without errors</a:t>
            </a:r>
          </a:p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Rate window fallback if columns missing</a:t>
            </a:r>
          </a:p>
          <a:p>
            <a:pPr indent="0" marL="0">
              <a:buNone/>
            </a:pPr>
            <a:r>
              <a:rPr lang="en-US" sz="1000" dirty="0">
                <a:solidFill>
                  <a:srgbClr val="4A5568"/>
                </a:solidFill>
              </a:rPr>
              <a:t>Validates 4-audience executive view</a:t>
            </a:r>
          </a:p>
          <a:p>
            <a:pPr indent="0" marL="0">
              <a:buNone/>
            </a:pPr>
            <a:r>
              <a:rPr lang="en-US" sz="1000" i="1" dirty="0">
                <a:solidFill>
                  <a:srgbClr val="4A5568"/>
                </a:solidFill>
              </a:rPr>
              <a:t>Run after every pipeline deploy</a:t>
            </a:r>
          </a:p>
        </p:txBody>
      </p:sp>
      <p:sp>
        <p:nvSpPr>
          <p:cNvPr id="40" name="BottomBanner"/>
          <p:cNvSpPr/>
          <p:nvPr/>
        </p:nvSpPr>
        <p:spPr>
          <a:xfrm>
            <a:off x="365760" y="3566160"/>
            <a:ext cx="8412480" cy="2743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182880" tIns="0" rIns="18288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9488"/>
                </a:solidFill>
              </a:rPr>
              <a:t xml:space="preserve">CI integration: </a:t>
            </a:r>
            <a:r>
              <a:rPr lang="en-US" sz="1100" dirty="0">
                <a:solidFill>
                  <a:srgbClr val="CADCFC"/>
                </a:solidFill>
              </a:rPr>
              <a:t>DQ tests gate the pipeline run  ·  metric tests gate the dashboard deploy</a:t>
            </a:r>
          </a:p>
        </p:txBody>
      </p:sp>
      <p:sp>
        <p:nvSpPr>
          <p:cNvPr id="70" name="FooterBar"/>
          <p:cNvSpPr/>
          <p:nvPr/>
        </p:nvSpPr>
        <p:spPr>
          <a:xfrm>
            <a:off x="0" y="4759200"/>
            <a:ext cx="914400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1" name="FooterText"/>
          <p:cNvSpPr/>
          <p:nvPr/>
        </p:nvSpPr>
        <p:spPr>
          <a:xfrm>
            <a:off x="365760" y="4759200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Palo Alto Networks  ·  Prisma Cloud  ·  Principal PM, Analytics &amp; AI  ·  May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Hard Truths Learned">
    <p:bg>
      <p:bgPr>
        <a:solidFill>
          <a:srgbClr val="F8FA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Eyebrow"/>
          <p:cNvSpPr/>
          <p:nvPr/>
        </p:nvSpPr>
        <p:spPr>
          <a:xfrm>
            <a:off x="457200" y="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ADCFC"/>
                </a:solidFill>
              </a:rPr>
              <a:t>04 / EVALUATION &amp; RESULTS</a:t>
            </a:r>
          </a:p>
        </p:txBody>
      </p:sp>
      <p:sp>
        <p:nvSpPr>
          <p:cNvPr id="4" name="Title"/>
          <p:cNvSpPr/>
          <p:nvPr/>
        </p:nvSpPr>
        <p:spPr>
          <a:xfrm>
            <a:off x="457200" y="59436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</a:rPr>
              <a:t>Hard Truths Learned</a:t>
            </a:r>
          </a:p>
        </p:txBody>
      </p:sp>
      <p:sp>
        <p:nvSpPr>
          <p:cNvPr id="5" name="Subtitle"/>
          <p:cNvSpPr/>
          <p:nvPr/>
        </p:nvSpPr>
        <p:spPr>
          <a:xfrm>
            <a:off x="457200" y="11887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</a:rPr>
              <a:t>Design constraints and honest v1 limitations — documented upfront, not discovered in QBR</a:t>
            </a:r>
          </a:p>
        </p:txBody>
      </p:sp>
      <p:sp>
        <p:nvSpPr>
          <p:cNvPr id="10" name="T1Bg"/>
          <p:cNvSpPr/>
          <p:nvPr/>
        </p:nvSpPr>
        <p:spPr>
          <a:xfrm>
            <a:off x="365760" y="1480680"/>
            <a:ext cx="8412480" cy="18000"/>
          </a:xfrm>
          <a:prstGeom prst="rect">
            <a:avLst/>
          </a:prstGeom>
          <a:solidFill>
            <a:srgbClr val="F97316"/>
          </a:solidFill>
          <a:ln>
            <a:noFill/>
          </a:ln>
        </p:spPr>
      </p:sp>
      <p:sp>
        <p:nvSpPr>
          <p:cNvPr id="11" name="T1Text"/>
          <p:cNvSpPr/>
          <p:nvPr/>
        </p:nvSpPr>
        <p:spPr>
          <a:xfrm>
            <a:off x="365760" y="1498680"/>
            <a:ext cx="84124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182880" tIns="91440" rIns="182880" bIns="9144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2400E"/>
                </a:solidFill>
              </a:rPr>
              <a:t xml:space="preserve">Health tier thresholds are industry starting points, not PANW-validated. </a:t>
            </a:r>
            <a:r>
              <a:rPr lang="en-US" sz="1200" dirty="0">
                <a:solidFill>
                  <a:srgbClr val="4A5568"/>
                </a:solidFill>
              </a:rPr>
              <a:t>The 5%/40%/80%/120% breakpoints need 12–18 months of PANW cohort data to validate. Until then, thresholds are calibrated, not proven.</a:t>
            </a:r>
          </a:p>
        </p:txBody>
      </p:sp>
      <p:sp>
        <p:nvSpPr>
          <p:cNvPr id="20" name="T2Bg"/>
          <p:cNvSpPr/>
          <p:nvPr/>
        </p:nvSpPr>
        <p:spPr>
          <a:xfrm>
            <a:off x="365760" y="2011680"/>
            <a:ext cx="8412480" cy="1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</p:sp>
      <p:sp>
        <p:nvSpPr>
          <p:cNvPr id="21" name="T2Text"/>
          <p:cNvSpPr/>
          <p:nvPr/>
        </p:nvSpPr>
        <p:spPr>
          <a:xfrm>
            <a:off x="365760" y="2029680"/>
            <a:ext cx="84124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182880" tIns="91440" rIns="182880" bIns="9144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21B6"/>
                </a:solidFill>
              </a:rPr>
              <a:t xml:space="preserve">Consumption rate ≠ security value. </a:t>
            </a:r>
            <a:r>
              <a:rPr lang="en-US" sz="1200" dirty="0">
                <a:solidFill>
                  <a:srgbClr val="4A5568"/>
                </a:solidFill>
              </a:rPr>
              <a:t>A customer burning credits on idle workloads looks identical to active threat response. Engagement quality signal (alerts acted on, policies deployed) is a v2 addition.</a:t>
            </a:r>
          </a:p>
        </p:txBody>
      </p:sp>
      <p:sp>
        <p:nvSpPr>
          <p:cNvPr id="30" name="T3Bg"/>
          <p:cNvSpPr/>
          <p:nvPr/>
        </p:nvSpPr>
        <p:spPr>
          <a:xfrm>
            <a:off x="365760" y="2542680"/>
            <a:ext cx="8412480" cy="18000"/>
          </a:xfrm>
          <a:prstGeom prst="rect">
            <a:avLst/>
          </a:prstGeom>
          <a:solidFill>
            <a:srgbClr val="10B981"/>
          </a:solidFill>
          <a:ln>
            <a:noFill/>
          </a:ln>
        </p:spPr>
      </p:sp>
      <p:sp>
        <p:nvSpPr>
          <p:cNvPr id="31" name="T3Text"/>
          <p:cNvSpPr/>
          <p:nvPr/>
        </p:nvSpPr>
        <p:spPr>
          <a:xfrm>
            <a:off x="365760" y="2560680"/>
            <a:ext cx="841248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182880" tIns="91440" rIns="182880" bIns="9144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F46"/>
                </a:solidFill>
              </a:rPr>
              <a:t xml:space="preserve">SCD Type 1 in v1 overwrites territory history. </a:t>
            </a:r>
            <a:r>
              <a:rPr lang="en-US" sz="1200" dirty="0">
                <a:solidFill>
                  <a:srgbClr val="4A5568"/>
                </a:solidFill>
              </a:rPr>
              <a:t>Territory reassignment history is lost. Cohort reporting by original territory is unreliable until SCD Type 2 is implemented in v2.</a:t>
            </a:r>
          </a:p>
        </p:txBody>
      </p:sp>
      <p:sp>
        <p:nvSpPr>
          <p:cNvPr id="40" name="T4Bg"/>
          <p:cNvSpPr/>
          <p:nvPr/>
        </p:nvSpPr>
        <p:spPr>
          <a:xfrm>
            <a:off x="365760" y="3073680"/>
            <a:ext cx="8412480" cy="18000"/>
          </a:xfrm>
          <a:prstGeom prst="rect">
            <a:avLst/>
          </a:prstGeom>
          <a:solidFill>
            <a:srgbClr val="EF4444"/>
          </a:solidFill>
          <a:ln>
            <a:noFill/>
          </a:ln>
        </p:spPr>
      </p:sp>
      <p:sp>
        <p:nvSpPr>
          <p:cNvPr id="41" name="T4Text"/>
          <p:cNvSpPr/>
          <p:nvPr/>
        </p:nvSpPr>
        <p:spPr>
          <a:xfrm>
            <a:off x="365760" y="3091680"/>
            <a:ext cx="84124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lIns="182880" tIns="91440" rIns="182880" bIns="9144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91B1B"/>
                </a:solidFill>
              </a:rPr>
              <a:t xml:space="preserve">Comp integration is infrastructure-ready but process-blocked. </a:t>
            </a:r>
            <a:r>
              <a:rPr lang="en-US" sz="1200" dirty="0">
                <a:solidFill>
                  <a:srgbClr val="4A5568"/>
                </a:solidFill>
              </a:rPr>
              <a:t>The data model is built. But Finance and RevOps must define the correction workflow, clawback policy, and dispute process before the first live comp period. CFO sign-off required on retroactive corrections.</a:t>
            </a:r>
          </a:p>
        </p:txBody>
      </p:sp>
      <p:sp>
        <p:nvSpPr>
          <p:cNvPr id="70" name="FooterBar"/>
          <p:cNvSpPr/>
          <p:nvPr/>
        </p:nvSpPr>
        <p:spPr>
          <a:xfrm>
            <a:off x="0" y="4759200"/>
            <a:ext cx="9144000" cy="3840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1" name="FooterText"/>
          <p:cNvSpPr/>
          <p:nvPr/>
        </p:nvSpPr>
        <p:spPr>
          <a:xfrm>
            <a:off x="365760" y="4759200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Palo Alto Networks  ·  Prisma Cloud  ·  Principal PM, Analytics &amp; AI  ·  May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ction 05 Panel Q&amp;A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</p:sp>
      <p:sp>
        <p:nvSpPr>
          <p:cNvPr id="3" name="SectionNumBg"/>
          <p:cNvSpPr/>
          <p:nvPr/>
        </p:nvSpPr>
        <p:spPr>
          <a:xfrm>
            <a:off x="457200" y="137160"/>
            <a:ext cx="1097280" cy="274320"/>
          </a:xfrm>
          <a:prstGeom prst="roundRect">
            <a:avLst>
              <a:gd name="adj" fmla="val 30000"/>
            </a:avLst>
          </a:prstGeom>
          <a:solidFill>
            <a:srgbClr val="EF4444"/>
          </a:solidFill>
          <a:ln>
            <a:noFill/>
          </a:ln>
        </p:spPr>
        <p:txBody>
          <a:bodyPr wrap="square" lIns="0" tIns="0" rIns="0" bIns="0" rtlCol="0" anchor="ctr"/>
          <a:lstStyle/>
          <a:p>
            <a:pPr algn="ctr">
              <a:buNone/>
            </a:pPr>
            <a:r>
              <a:rPr lang="en-US" sz="1200" b="1" spc="300" dirty="0">
                <a:solidFill>
                  <a:srgbClr val="FFFFFF"/>
                </a:solidFill>
              </a:rPr>
              <a:t>05 / Q&amp;A</a:t>
            </a:r>
          </a:p>
        </p:txBody>
      </p:sp>
      <p:sp>
        <p:nvSpPr>
          <p:cNvPr id="4" name="Title"/>
          <p:cNvSpPr/>
          <p:nvPr/>
        </p:nvSpPr>
        <p:spPr>
          <a:xfrm>
            <a:off x="457200" y="4572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Panel Q&amp;A  ·  25 minutes</a:t>
            </a:r>
          </a:p>
        </p:txBody>
      </p:sp>
      <p:sp>
        <p:nvSpPr>
          <p:cNvPr id="10" name="Q1Bg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solidFill>
            <a:srgbClr val="2D3A6B"/>
          </a:solidFill>
          <a:ln>
            <a:noFill/>
          </a:ln>
        </p:spPr>
        <p:txBody>
          <a:bodyPr wrap="square" lIns="182880" tIns="91440" rIns="182880" bIns="9144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 xml:space="preserve">Q: “How do you know the 90-day window is correct?” </a:t>
            </a:r>
            <a:r>
              <a:rPr lang="en-US" sz="1100" dirty="0">
                <a:solidFill>
                  <a:srgbClr val="CADCFC"/>
                </a:solidFill>
              </a:rPr>
              <a:t>v1 assumption aligned to PANW’s quarterly comp cycle. Validate against renewal cohorts at 12–18 months. Segment-specific windows are v2.</a:t>
            </a:r>
          </a:p>
        </p:txBody>
      </p:sp>
      <p:sp>
        <p:nvSpPr>
          <p:cNvPr id="20" name="Q2Bg"/>
          <p:cNvSpPr/>
          <p:nvPr/>
        </p:nvSpPr>
        <p:spPr>
          <a:xfrm>
            <a:off x="457200" y="1774440"/>
            <a:ext cx="8229600" cy="548640"/>
          </a:xfrm>
          <a:prstGeom prst="rect">
            <a:avLst/>
          </a:prstGeom>
          <a:solidFill>
            <a:srgbClr val="1A2558"/>
          </a:solidFill>
          <a:ln>
            <a:noFill/>
          </a:ln>
        </p:spPr>
        <p:txBody>
          <a:bodyPr wrap="square" lIns="182880" tIns="91440" rIns="182880" bIns="9144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 xml:space="preserve">Q: “What if reps game the metric?” </a:t>
            </a:r>
            <a:r>
              <a:rPr lang="en-US" sz="1100" dirty="0">
                <a:solidFill>
                  <a:srgbClr val="CADCFC"/>
                </a:solidFill>
              </a:rPr>
              <a:t>90-day smoothing prevents week-of-quarter spikes. Real risk is inverse: pushing unnecessary scans. Flagged as v1 limitation — engagement quality signal is the v2 mitigation.</a:t>
            </a:r>
          </a:p>
        </p:txBody>
      </p:sp>
      <p:sp>
        <p:nvSpPr>
          <p:cNvPr id="30" name="Q3Bg"/>
          <p:cNvSpPr/>
          <p:nvPr/>
        </p:nvSpPr>
        <p:spPr>
          <a:xfrm>
            <a:off x="457200" y="2360160"/>
            <a:ext cx="8229600" cy="548640"/>
          </a:xfrm>
          <a:prstGeom prst="rect">
            <a:avLst/>
          </a:prstGeom>
          <a:solidFill>
            <a:srgbClr val="2D3A6B"/>
          </a:solidFill>
          <a:ln>
            <a:noFill/>
          </a:ln>
        </p:spPr>
        <p:txBody>
          <a:bodyPr wrap="square" lIns="182880" tIns="91440" rIns="182880" bIns="9144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 xml:space="preserve">Q: “Why not just use NRR?” </a:t>
            </a:r>
            <a:r>
              <a:rPr lang="en-US" sz="1100" dirty="0">
                <a:solidFill>
                  <a:srgbClr val="CADCFC"/>
                </a:solidFill>
              </a:rPr>
              <a:t>NRR is a lagging indicator — known only at renewal, 12 months later. cARR is observable today. cARR attainment predicts NRR; it doesn’t replace it.</a:t>
            </a:r>
          </a:p>
        </p:txBody>
      </p:sp>
      <p:sp>
        <p:nvSpPr>
          <p:cNvPr id="40" name="Q4Bg"/>
          <p:cNvSpPr/>
          <p:nvPr/>
        </p:nvSpPr>
        <p:spPr>
          <a:xfrm>
            <a:off x="457200" y="2945880"/>
            <a:ext cx="8229600" cy="548640"/>
          </a:xfrm>
          <a:prstGeom prst="rect">
            <a:avLst/>
          </a:prstGeom>
          <a:solidFill>
            <a:srgbClr val="1A2558"/>
          </a:solidFill>
          <a:ln>
            <a:noFill/>
          </a:ln>
        </p:spPr>
        <p:txBody>
          <a:bodyPr wrap="square" lIns="182880" tIns="91440" rIns="182880" bIns="9144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 xml:space="preserve">Q: “When can we go live with comp?” </a:t>
            </a:r>
            <a:r>
              <a:rPr lang="en-US" sz="1100" dirty="0">
                <a:solidFill>
                  <a:srgbClr val="CADCFC"/>
                </a:solidFill>
              </a:rPr>
              <a:t>Pipeline is production-ready. Comp go-live requires: correction workflow, clawback policy, dispute process, and CFO sign-off. Open questions documented in product spec §11.</a:t>
            </a:r>
          </a:p>
        </p:txBody>
      </p:sp>
      <p:sp>
        <p:nvSpPr>
          <p:cNvPr id="50" name="Q5Bg"/>
          <p:cNvSpPr/>
          <p:nvPr/>
        </p:nvSpPr>
        <p:spPr>
          <a:xfrm>
            <a:off x="457200" y="3531600"/>
            <a:ext cx="8229600" cy="548640"/>
          </a:xfrm>
          <a:prstGeom prst="rect">
            <a:avLst/>
          </a:prstGeom>
          <a:solidFill>
            <a:srgbClr val="2D3A6B"/>
          </a:solidFill>
          <a:ln>
            <a:noFill/>
          </a:ln>
        </p:spPr>
        <p:txBody>
          <a:bodyPr wrap="square" lIns="182880" tIns="91440" rIns="182880" bIns="9144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 xml:space="preserve">Q: “What would you do differently?” </a:t>
            </a:r>
            <a:r>
              <a:rPr lang="en-US" sz="1100" dirty="0">
                <a:solidFill>
                  <a:srgbClr val="CADCFC"/>
                </a:solidFill>
              </a:rPr>
              <a:t>Start with segment-specific ramp windows in v1. Instrument engagement quality (alerts acted on, policies deployed) from day one, not as a v2 afterthought.</a:t>
            </a:r>
          </a:p>
        </p:txBody>
      </p:sp>
      <p:sp>
        <p:nvSpPr>
          <p:cNvPr id="60" name="FooterBar"/>
          <p:cNvSpPr/>
          <p:nvPr/>
        </p:nvSpPr>
        <p:spPr>
          <a:xfrm>
            <a:off x="0" y="4850280"/>
            <a:ext cx="9144000" cy="293220"/>
          </a:xfrm>
          <a:prstGeom prst="rect">
            <a:avLst/>
          </a:prstGeom>
          <a:solidFill>
            <a:srgbClr val="EF4444"/>
          </a:solidFill>
          <a:ln>
            <a:noFill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cARR: Consumed ARR — GTM North Star Metric</dc:title>
  <dc:subject>PptxGenJS Presentation</dc:subject>
  <dc:creator>Jan</dc:creator>
  <cp:lastModifiedBy>Jan</cp:lastModifiedBy>
  <cp:revision>1</cp:revision>
  <dcterms:created xsi:type="dcterms:W3CDTF">2026-05-31T06:33:59Z</dcterms:created>
  <dcterms:modified xsi:type="dcterms:W3CDTF">2026-05-31T06:33:59Z</dcterms:modified>
</cp:coreProperties>
</file>