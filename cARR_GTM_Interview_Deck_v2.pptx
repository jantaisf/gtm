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16"/>
    <p:sldId id="267" r:id="rId17"/>
    <p:sldId id="268" r:id="rId18"/>
    <p:sldId id="269" r:id="rId19"/>
    <p:sldId id="257" r:id="rId3"/>
    <p:sldId id="263" r:id="rId9"/>
    <p:sldId id="270" r:id="rId20"/>
    <p:sldId id="271" r:id="rId21"/>
    <p:sldId id="258" r:id="rId4"/>
    <p:sldId id="259" r:id="rId5"/>
    <p:sldId id="272" r:id="rId22"/>
    <p:sldId id="262" r:id="rId8"/>
    <p:sldId id="273" r:id="rId23"/>
    <p:sldId id="260" r:id="rId6"/>
    <p:sldId id="274" r:id="rId24"/>
    <p:sldId id="275" r:id="rId25"/>
    <p:sldId id="276" r:id="rId26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6.xml"/><Relationship Id="rId4" Type="http://schemas.openxmlformats.org/officeDocument/2006/relationships/slide" Target="slides/slide10.xml"/><Relationship Id="rId5" Type="http://schemas.openxmlformats.org/officeDocument/2006/relationships/slide" Target="slides/slide11.xml"/><Relationship Id="rId6" Type="http://schemas.openxmlformats.org/officeDocument/2006/relationships/slide" Target="slides/slide15.xml"/><Relationship Id="rId8" Type="http://schemas.openxmlformats.org/officeDocument/2006/relationships/slide" Target="slides/slide13.xml"/><Relationship Id="rId9" Type="http://schemas.openxmlformats.org/officeDocument/2006/relationships/slide" Target="slides/slide7.xml"/><Relationship Id="rId10" Type="http://schemas.openxmlformats.org/officeDocument/2006/relationships/slide" Target="slides/slide1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2.xml"/><Relationship Id="rId23" Type="http://schemas.openxmlformats.org/officeDocument/2006/relationships/slide" Target="slides/slide14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3A6B"/>
          </a:solidFill>
          <a:ln w="12700">
            <a:solidFill>
              <a:srgbClr val="2D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37160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JOB INTERVIEW CASE STUDY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Consumed ARR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(cARR)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A new North Star metric for Prisma Cloud's transition to hybrid consumption-based pricing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Palo Alto Networks · Prisma Cloud · Principal PM, Analytics &amp; AI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0" spc="300" kern="0" dirty="0">
                <a:solidFill>
                  <a:srgbClr val="8A9ABB"/>
                </a:solidFill>
              </a:rPr>
              <a:t>AGENDA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Session Structure  ·  60 Minutes</a:t>
            </a:r>
          </a:p>
        </p:txBody>
      </p:sp>
      <p:sp>
        <p:nvSpPr>
          <p:cNvPr id="60" name="ColHdrTime"/>
          <p:cNvSpPr/>
          <p:nvPr/>
        </p:nvSpPr>
        <p:spPr>
          <a:xfrm>
            <a:off x="502920" y="1190000"/>
            <a:ext cx="548640" cy="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94A3B8"/>
                </a:solidFill>
              </a:rPr>
              <a:t>TIME</a:t>
            </a:r>
          </a:p>
        </p:txBody>
      </p:sp>
      <p:sp>
        <p:nvSpPr>
          <p:cNvPr id="61" name="ColHdrSection"/>
          <p:cNvSpPr/>
          <p:nvPr/>
        </p:nvSpPr>
        <p:spPr>
          <a:xfrm>
            <a:off x="1097280" y="1190000"/>
            <a:ext cx="2286000" cy="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dirty="0">
                <a:solidFill>
                  <a:srgbClr val="94A3B8"/>
                </a:solidFill>
              </a:rPr>
              <a:t>SECTION</a:t>
            </a:r>
          </a:p>
        </p:txBody>
      </p:sp>
      <p:sp>
        <p:nvSpPr>
          <p:cNvPr id="62" name="ColHdrFocus"/>
          <p:cNvSpPr/>
          <p:nvPr/>
        </p:nvSpPr>
        <p:spPr>
          <a:xfrm>
            <a:off x="3520440" y="1190000"/>
            <a:ext cx="5166360" cy="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dirty="0">
                <a:solidFill>
                  <a:srgbClr val="94A3B8"/>
                </a:solidFill>
              </a:rPr>
              <a:t>FOCUS AREA</a:t>
            </a:r>
          </a:p>
        </p:txBody>
      </p:sp>
      <p:sp>
        <p:nvSpPr>
          <p:cNvPr id="10" name="Accent1"/>
          <p:cNvSpPr/>
          <p:nvPr/>
        </p:nvSpPr>
        <p:spPr>
          <a:xfrm>
            <a:off x="457200" y="1300000"/>
            <a:ext cx="18000" cy="4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1" name="TimePill1"/>
          <p:cNvSpPr/>
          <p:nvPr/>
        </p:nvSpPr>
        <p:spPr>
          <a:xfrm>
            <a:off x="502920" y="1320000"/>
            <a:ext cx="548640" cy="210000"/>
          </a:xfrm>
          <a:prstGeom prst="roundRect">
            <a:avLst>
              <a:gd name="adj" fmla="val 30000"/>
            </a:avLst>
          </a:prstGeom>
          <a:solidFill>
            <a:srgbClr val="1E2761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CADCFC"/>
                </a:solidFill>
              </a:rPr>
              <a:t>5 MIN</a:t>
            </a:r>
          </a:p>
        </p:txBody>
      </p:sp>
      <p:sp>
        <p:nvSpPr>
          <p:cNvPr id="12" name="SecName1"/>
          <p:cNvSpPr/>
          <p:nvPr/>
        </p:nvSpPr>
        <p:spPr>
          <a:xfrm>
            <a:off x="1097280" y="1300000"/>
            <a:ext cx="2286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Introduction</a:t>
            </a:r>
          </a:p>
        </p:txBody>
      </p:sp>
      <p:sp>
        <p:nvSpPr>
          <p:cNvPr id="13" name="Focus1"/>
          <p:cNvSpPr/>
          <p:nvPr/>
        </p:nvSpPr>
        <p:spPr>
          <a:xfrm>
            <a:off x="3520440" y="1300000"/>
            <a:ext cx="5166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Your background and “Technical PM” philosophy.</a:t>
            </a:r>
          </a:p>
        </p:txBody>
      </p:sp>
      <p:sp>
        <p:nvSpPr>
          <p:cNvPr id="14" name="Div1"/>
          <p:cNvSpPr/>
          <p:nvPr/>
        </p:nvSpPr>
        <p:spPr>
          <a:xfrm>
            <a:off x="457200" y="1610000"/>
            <a:ext cx="8229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0" name="Accent2"/>
          <p:cNvSpPr/>
          <p:nvPr/>
        </p:nvSpPr>
        <p:spPr>
          <a:xfrm>
            <a:off x="457200" y="1650000"/>
            <a:ext cx="18000" cy="4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1" name="TimePill2"/>
          <p:cNvSpPr/>
          <p:nvPr/>
        </p:nvSpPr>
        <p:spPr>
          <a:xfrm>
            <a:off x="502920" y="1668000"/>
            <a:ext cx="548640" cy="21000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MIN</a:t>
            </a:r>
          </a:p>
        </p:txBody>
      </p:sp>
      <p:sp>
        <p:nvSpPr>
          <p:cNvPr id="22" name="SecName2"/>
          <p:cNvSpPr/>
          <p:nvPr/>
        </p:nvSpPr>
        <p:spPr>
          <a:xfrm>
            <a:off x="1097280" y="1650000"/>
            <a:ext cx="2286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Context &amp; Problem</a:t>
            </a:r>
          </a:p>
        </p:txBody>
      </p:sp>
      <p:sp>
        <p:nvSpPr>
          <p:cNvPr id="23" name="Focus2"/>
          <p:cNvSpPr/>
          <p:nvPr/>
        </p:nvSpPr>
        <p:spPr>
          <a:xfrm>
            <a:off x="3520440" y="1650000"/>
            <a:ext cx="5166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Why ARR alone is no longer sufficient — and what we built to fix it.</a:t>
            </a:r>
          </a:p>
        </p:txBody>
      </p:sp>
      <p:sp>
        <p:nvSpPr>
          <p:cNvPr id="24" name="Div2"/>
          <p:cNvSpPr/>
          <p:nvPr/>
        </p:nvSpPr>
        <p:spPr>
          <a:xfrm>
            <a:off x="457200" y="1960000"/>
            <a:ext cx="8229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Accent3"/>
          <p:cNvSpPr/>
          <p:nvPr/>
        </p:nvSpPr>
        <p:spPr>
          <a:xfrm>
            <a:off x="457200" y="2000000"/>
            <a:ext cx="18000" cy="48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31" name="TimePill3"/>
          <p:cNvSpPr/>
          <p:nvPr/>
        </p:nvSpPr>
        <p:spPr>
          <a:xfrm>
            <a:off x="502920" y="2020000"/>
            <a:ext cx="548640" cy="21000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15 MIN</a:t>
            </a:r>
          </a:p>
        </p:txBody>
      </p:sp>
      <p:sp>
        <p:nvSpPr>
          <p:cNvPr id="32" name="SecName3"/>
          <p:cNvSpPr/>
          <p:nvPr/>
        </p:nvSpPr>
        <p:spPr>
          <a:xfrm>
            <a:off x="1097280" y="2000000"/>
            <a:ext cx="2286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Technical Deep Dive</a:t>
            </a:r>
          </a:p>
        </p:txBody>
      </p:sp>
      <p:sp>
        <p:nvSpPr>
          <p:cNvPr id="33" name="Focus3"/>
          <p:cNvSpPr/>
          <p:nvPr/>
        </p:nvSpPr>
        <p:spPr>
          <a:xfrm>
            <a:off x="3520440" y="2000000"/>
            <a:ext cx="5166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Architecture choices, data pipeline, and why you chose your specific technical approach.</a:t>
            </a:r>
          </a:p>
        </p:txBody>
      </p:sp>
      <p:sp>
        <p:nvSpPr>
          <p:cNvPr id="34" name="Div3"/>
          <p:cNvSpPr/>
          <p:nvPr/>
        </p:nvSpPr>
        <p:spPr>
          <a:xfrm>
            <a:off x="457200" y="2310000"/>
            <a:ext cx="8229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0" name="Accent4"/>
          <p:cNvSpPr/>
          <p:nvPr/>
        </p:nvSpPr>
        <p:spPr>
          <a:xfrm>
            <a:off x="457200" y="2350000"/>
            <a:ext cx="18000" cy="4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1" name="TimePill4"/>
          <p:cNvSpPr/>
          <p:nvPr/>
        </p:nvSpPr>
        <p:spPr>
          <a:xfrm>
            <a:off x="502920" y="2368000"/>
            <a:ext cx="548640" cy="21000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 MIN</a:t>
            </a:r>
          </a:p>
        </p:txBody>
      </p:sp>
      <p:sp>
        <p:nvSpPr>
          <p:cNvPr id="42" name="SecName4"/>
          <p:cNvSpPr/>
          <p:nvPr/>
        </p:nvSpPr>
        <p:spPr>
          <a:xfrm>
            <a:off x="1097280" y="2350000"/>
            <a:ext cx="2286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Evaluation &amp; Results</a:t>
            </a:r>
          </a:p>
        </p:txBody>
      </p:sp>
      <p:sp>
        <p:nvSpPr>
          <p:cNvPr id="43" name="Focus4"/>
          <p:cNvSpPr/>
          <p:nvPr/>
        </p:nvSpPr>
        <p:spPr>
          <a:xfrm>
            <a:off x="3520440" y="2350000"/>
            <a:ext cx="5166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The metrics that mattered. How did you validate the model and what were the “hard truths” learned?</a:t>
            </a:r>
          </a:p>
        </p:txBody>
      </p:sp>
      <p:sp>
        <p:nvSpPr>
          <p:cNvPr id="44" name="Div4"/>
          <p:cNvSpPr/>
          <p:nvPr/>
        </p:nvSpPr>
        <p:spPr>
          <a:xfrm>
            <a:off x="457200" y="2660000"/>
            <a:ext cx="8229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0" name="Accent5"/>
          <p:cNvSpPr/>
          <p:nvPr/>
        </p:nvSpPr>
        <p:spPr>
          <a:xfrm>
            <a:off x="457200" y="2700000"/>
            <a:ext cx="18000" cy="4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51" name="TimePill5"/>
          <p:cNvSpPr/>
          <p:nvPr/>
        </p:nvSpPr>
        <p:spPr>
          <a:xfrm>
            <a:off x="502920" y="2718000"/>
            <a:ext cx="548640" cy="21000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25 MIN</a:t>
            </a:r>
          </a:p>
        </p:txBody>
      </p:sp>
      <p:sp>
        <p:nvSpPr>
          <p:cNvPr id="52" name="SecName5"/>
          <p:cNvSpPr/>
          <p:nvPr/>
        </p:nvSpPr>
        <p:spPr>
          <a:xfrm>
            <a:off x="1097280" y="2700000"/>
            <a:ext cx="2286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Panel Q&amp;A</a:t>
            </a:r>
          </a:p>
        </p:txBody>
      </p:sp>
      <p:sp>
        <p:nvSpPr>
          <p:cNvPr id="53" name="Focus5"/>
          <p:cNvSpPr/>
          <p:nvPr/>
        </p:nvSpPr>
        <p:spPr>
          <a:xfrm>
            <a:off x="3520440" y="2700000"/>
            <a:ext cx="5166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Be ready to defend your technical trade-offs and product roadmap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1 Introduction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Panel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3A6B"/>
          </a:solidFill>
          <a:ln>
            <a:noFill/>
          </a:ln>
        </p:spPr>
      </p:sp>
      <p:sp>
        <p:nvSpPr>
          <p:cNvPr id="3" name="TealAccent"/>
          <p:cNvSpPr/>
          <p:nvPr/>
        </p:nvSpPr>
        <p:spPr>
          <a:xfrm>
            <a:off x="0" y="0"/>
            <a:ext cx="65836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4" name="SectionNumBg"/>
          <p:cNvSpPr/>
          <p:nvPr/>
        </p:nvSpPr>
        <p:spPr>
          <a:xfrm>
            <a:off x="548640" y="1280160"/>
            <a:ext cx="1005840" cy="27432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spc="300" dirty="0">
                <a:solidFill>
                  <a:srgbClr val="FFFFFF"/>
                </a:solidFill>
              </a:rPr>
              <a:t>01 / INTRO</a:t>
            </a:r>
          </a:p>
        </p:txBody>
      </p:sp>
      <p:sp>
        <p:nvSpPr>
          <p:cNvPr id="5" name="SectionTitle"/>
          <p:cNvSpPr/>
          <p:nvPr/>
        </p:nvSpPr>
        <p:spPr>
          <a:xfrm>
            <a:off x="548640" y="16462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" name="TimeAlloc"/>
          <p:cNvSpPr/>
          <p:nvPr/>
        </p:nvSpPr>
        <p:spPr>
          <a:xfrm>
            <a:off x="5486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5 minutes</a:t>
            </a:r>
          </a:p>
        </p:txBody>
      </p:sp>
      <p:sp>
        <p:nvSpPr>
          <p:cNvPr id="7" name="SectionDesc"/>
          <p:cNvSpPr/>
          <p:nvPr/>
        </p:nvSpPr>
        <p:spPr>
          <a:xfrm>
            <a:off x="548640" y="2926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BB"/>
                </a:solidFill>
              </a:rPr>
              <a:t>Your background and “Technical PM” philosophy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nical PM Philosophy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0" spc="300" kern="0" dirty="0">
                <a:solidFill>
                  <a:srgbClr val="8A9ABB"/>
                </a:solidFill>
              </a:rPr>
              <a:t>01 / INTRODUCTION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What Makes a Technical PM Different</a:t>
            </a:r>
          </a:p>
        </p:txBody>
      </p:sp>
      <p:sp>
        <p:nvSpPr>
          <p:cNvPr id="10" name="Card1Bg"/>
          <p:cNvSpPr/>
          <p:nvPr/>
        </p:nvSpPr>
        <p:spPr>
          <a:xfrm>
            <a:off x="365760" y="12801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Card1Accent"/>
          <p:cNvSpPr/>
          <p:nvPr/>
        </p:nvSpPr>
        <p:spPr>
          <a:xfrm>
            <a:off x="365760" y="1280160"/>
            <a:ext cx="411480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2" name="Card1Text"/>
          <p:cNvSpPr/>
          <p:nvPr/>
        </p:nvSpPr>
        <p:spPr>
          <a:xfrm>
            <a:off x="457200" y="135331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Spec first, code second</a:t>
            </a:r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Wrote both product and technical specs (~2,500 lines combined) before touching a single line of pipeline SQL. The spec is the PM’s code.</a:t>
            </a:r>
          </a:p>
        </p:txBody>
      </p:sp>
      <p:sp>
        <p:nvSpPr>
          <p:cNvPr id="20" name="Card2Bg"/>
          <p:cNvSpPr/>
          <p:nvPr/>
        </p:nvSpPr>
        <p:spPr>
          <a:xfrm>
            <a:off x="4663440" y="12801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Card2Accent"/>
          <p:cNvSpPr/>
          <p:nvPr/>
        </p:nvSpPr>
        <p:spPr>
          <a:xfrm>
            <a:off x="4663440" y="1280160"/>
            <a:ext cx="4114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22" name="Card2Text"/>
          <p:cNvSpPr/>
          <p:nvPr/>
        </p:nvSpPr>
        <p:spPr>
          <a:xfrm>
            <a:off x="4754880" y="135331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AI as a force multiplier, not a crutch</a:t>
            </a:r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Used Claude Code to accelerate implementation — not to define strategy. AI executes the spec; the PM writes the spec.</a:t>
            </a:r>
          </a:p>
        </p:txBody>
      </p:sp>
      <p:sp>
        <p:nvSpPr>
          <p:cNvPr id="30" name="Card3Bg"/>
          <p:cNvSpPr/>
          <p:nvPr/>
        </p:nvSpPr>
        <p:spPr>
          <a:xfrm>
            <a:off x="365760" y="25603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Card3Accent"/>
          <p:cNvSpPr/>
          <p:nvPr/>
        </p:nvSpPr>
        <p:spPr>
          <a:xfrm>
            <a:off x="365760" y="2560320"/>
            <a:ext cx="41148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32" name="Card3Text"/>
          <p:cNvSpPr/>
          <p:nvPr/>
        </p:nvSpPr>
        <p:spPr>
          <a:xfrm>
            <a:off x="457200" y="26334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Full-stack PM</a:t>
            </a:r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Can write SQL, read BigQuery schema, design a star schema, and understand SCD Type 2 patterns — fluent in the technical details.</a:t>
            </a:r>
          </a:p>
        </p:txBody>
      </p:sp>
      <p:sp>
        <p:nvSpPr>
          <p:cNvPr id="40" name="Card4Bg"/>
          <p:cNvSpPr/>
          <p:nvPr/>
        </p:nvSpPr>
        <p:spPr>
          <a:xfrm>
            <a:off x="4663440" y="2560320"/>
            <a:ext cx="411480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Card4Text"/>
          <p:cNvSpPr/>
          <p:nvPr/>
        </p:nvSpPr>
        <p:spPr>
          <a:xfrm>
            <a:off x="4754880" y="26334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Result: spec-driven velocity</a:t>
            </a:r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Concept → working prototype in weeks. Two specs totaling ~2,500 lines before a single line of pipeline SQL. That’s the method.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2 Context &amp; Problem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Panel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3A6B"/>
          </a:solidFill>
          <a:ln>
            <a:noFill/>
          </a:ln>
        </p:spPr>
      </p:sp>
      <p:sp>
        <p:nvSpPr>
          <p:cNvPr id="3" name="TopAccent"/>
          <p:cNvSpPr/>
          <p:nvPr/>
        </p:nvSpPr>
        <p:spPr>
          <a:xfrm>
            <a:off x="0" y="0"/>
            <a:ext cx="65836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4" name="SectionNumBg"/>
          <p:cNvSpPr/>
          <p:nvPr/>
        </p:nvSpPr>
        <p:spPr>
          <a:xfrm>
            <a:off x="5486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spc="300" dirty="0">
                <a:solidFill>
                  <a:srgbClr val="FFFFFF"/>
                </a:solidFill>
              </a:rPr>
              <a:t>02 / SECTION</a:t>
            </a:r>
          </a:p>
        </p:txBody>
      </p:sp>
      <p:sp>
        <p:nvSpPr>
          <p:cNvPr id="5" name="SectionTitle"/>
          <p:cNvSpPr/>
          <p:nvPr/>
        </p:nvSpPr>
        <p:spPr>
          <a:xfrm>
            <a:off x="548640" y="16462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Context &amp; Problem</a:t>
            </a:r>
          </a:p>
        </p:txBody>
      </p:sp>
      <p:sp>
        <p:nvSpPr>
          <p:cNvPr id="6" name="TimeAlloc"/>
          <p:cNvSpPr/>
          <p:nvPr/>
        </p:nvSpPr>
        <p:spPr>
          <a:xfrm>
            <a:off x="548640" y="265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5 minutes</a:t>
            </a:r>
          </a:p>
        </p:txBody>
      </p:sp>
      <p:sp>
        <p:nvSpPr>
          <p:cNvPr id="7" name="SectionDesc"/>
          <p:cNvSpPr/>
          <p:nvPr/>
        </p:nvSpPr>
        <p:spPr>
          <a:xfrm>
            <a:off x="548640" y="30172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BB"/>
                </a:solidFill>
              </a:rPr>
              <a:t>Why ARR alone is no longer sufficient for consumption-based businesses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ARR alone is no longer sufficient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With Prisma Cloud's shift to consumption-based credits, two $500K deals can look identical on paper — yet represent fundamentally different business realities.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29968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29968"/>
            <a:ext cx="4114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945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21671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Shelfware Risk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6791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$500K ARR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4% consumption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$20K realized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Credits unused. Churn liability hiding in plain sight.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029968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029968"/>
            <a:ext cx="41148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19456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13248" y="21671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Healthy Account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83480" y="26791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$500K ARR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92% consumption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$460K realized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98348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Full value realization. Renewal + expansion candidate.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0" y="4636008"/>
            <a:ext cx="91440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4636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Sales leadership needs one metric that reflects whether contracted revenue is being realized through actual platform usage.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INDUSTRY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Consumption pricing is the new enterprise standard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2651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ADCFC"/>
                </a:solidFill>
              </a:rPr>
              <a:t>67%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SaaS companies now offer usage-based pricing — up from 35% in 2020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82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Metronome, State of Usage-Based Pricing 2025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0" y="1325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Peer Benchmark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1719072"/>
          <a:ext cx="5577840" cy="1783080"/>
        </p:xfrm>
        <a:graphic>
          <a:graphicData uri="http://schemas.openxmlformats.org/drawingml/2006/table">
            <a:tbl>
              <a:tblPr/>
              <a:tblGrid>
                <a:gridCol w="1234440"/>
                <a:gridCol w="1325880"/>
                <a:gridCol w="301752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Equivalent metric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Snowflake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Credits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Consumed Revenue = credits × price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Databricks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DBUs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Consumed ARR = annualized trailing DBU usage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MongoDB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Queries / ops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Incremental ARR above usage baseline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OpenAI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Tokens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Revenue recognized on actual consumption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PANW Prisma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Compute credits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cARR = annual_commit × consumption_rate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37033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Snowflake compensation precedent (modeled in cARR):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40233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New/greenfield reps: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 xml:space="preserve">  70% bookings / 30% consumption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Mature territory reps: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 xml:space="preserve">  30% bookings / 70% consumption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3 Technical Deep Div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Panel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3A6B"/>
          </a:solidFill>
          <a:ln>
            <a:noFill/>
          </a:ln>
        </p:spPr>
      </p:sp>
      <p:sp>
        <p:nvSpPr>
          <p:cNvPr id="3" name="TopAccent"/>
          <p:cNvSpPr/>
          <p:nvPr/>
        </p:nvSpPr>
        <p:spPr>
          <a:xfrm>
            <a:off x="0" y="0"/>
            <a:ext cx="6583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4" name="SectionNumBg"/>
          <p:cNvSpPr/>
          <p:nvPr/>
        </p:nvSpPr>
        <p:spPr>
          <a:xfrm>
            <a:off x="5486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spc="300" dirty="0">
                <a:solidFill>
                  <a:srgbClr val="FFFFFF"/>
                </a:solidFill>
              </a:rPr>
              <a:t>03 / SECTION</a:t>
            </a:r>
          </a:p>
        </p:txBody>
      </p:sp>
      <p:sp>
        <p:nvSpPr>
          <p:cNvPr id="5" name="SectionTitle"/>
          <p:cNvSpPr/>
          <p:nvPr/>
        </p:nvSpPr>
        <p:spPr>
          <a:xfrm>
            <a:off x="548640" y="16462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Technical Deep Dive</a:t>
            </a:r>
          </a:p>
        </p:txBody>
      </p:sp>
      <p:sp>
        <p:nvSpPr>
          <p:cNvPr id="6" name="TimeAlloc"/>
          <p:cNvSpPr/>
          <p:nvPr/>
        </p:nvSpPr>
        <p:spPr>
          <a:xfrm>
            <a:off x="548640" y="265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15 minutes</a:t>
            </a:r>
          </a:p>
        </p:txBody>
      </p:sp>
      <p:sp>
        <p:nvSpPr>
          <p:cNvPr id="7" name="SectionDesc"/>
          <p:cNvSpPr/>
          <p:nvPr/>
        </p:nvSpPr>
        <p:spPr>
          <a:xfrm>
            <a:off x="548640" y="30172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BB"/>
                </a:solidFill>
              </a:rPr>
              <a:t>Architecture, pipeline, data model, and spec-driven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0" spc="300" kern="0" dirty="0">
                <a:solidFill>
                  <a:srgbClr val="8A9ABB"/>
                </a:solidFill>
              </a:rPr>
              <a:t>03 / TECHNICAL DEEP DIVE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Medallion Architecture</a:t>
            </a:r>
          </a:p>
        </p:txBody>
      </p:sp>
      <p:sp>
        <p:nvSpPr>
          <p:cNvPr id="5" name="InsightBg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182880" tIns="0" rIns="18288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 xml:space="preserve">Key insight: </a:t>
            </a:r>
            <a:r>
              <a:rPr lang="en-US" sz="1200" dirty="0">
                <a:solidFill>
                  <a:srgbClr val="CADCFC"/>
                </a:solidFill>
              </a:rPr>
              <a:t>Every downstream system reads a single flat view — no joins required</a:t>
            </a:r>
          </a:p>
        </p:txBody>
      </p:sp>
      <p:sp>
        <p:nvSpPr>
          <p:cNvPr id="10" name="BronzeBg"/>
          <p:cNvSpPr/>
          <p:nvPr/>
        </p:nvSpPr>
        <p:spPr>
          <a:xfrm>
            <a:off x="365760" y="1554480"/>
            <a:ext cx="1920240" cy="960120"/>
          </a:xfrm>
          <a:prstGeom prst="rect">
            <a:avLst/>
          </a:prstGeom>
          <a:solidFill>
            <a:srgbClr val="92400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182880" tIns="91440" rIns="91440" bIns="9144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ED7AA"/>
                </a:solidFill>
              </a:rPr>
              <a:t>BRONZE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</a:rPr>
              <a:t>Raw source tables, as-landed</a:t>
            </a:r>
          </a:p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</a:rPr>
              <a:t>sales_reps · accounts</a:t>
            </a:r>
          </a:p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</a:rPr>
              <a:t>contracts · daily_usage_logs</a:t>
            </a:r>
          </a:p>
        </p:txBody>
      </p:sp>
      <p:sp>
        <p:nvSpPr>
          <p:cNvPr id="15" name="Arrow1"/>
          <p:cNvSpPr/>
          <p:nvPr/>
        </p:nvSpPr>
        <p:spPr>
          <a:xfrm>
            <a:off x="2377440" y="1920240"/>
            <a:ext cx="36576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</p:txBody>
      </p:sp>
      <p:sp>
        <p:nvSpPr>
          <p:cNvPr id="20" name="SilverBg"/>
          <p:cNvSpPr/>
          <p:nvPr/>
        </p:nvSpPr>
        <p:spPr>
          <a:xfrm>
            <a:off x="2834640" y="1554480"/>
            <a:ext cx="1920240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182880" tIns="91440" rIns="91440" bIns="9144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</a:rPr>
              <a:t>SILVER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Cleaned, conformed, edge cases resolved</a:t>
            </a:r>
          </a:p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active_contracts</a:t>
            </a:r>
          </a:p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daily_consumption</a:t>
            </a:r>
          </a:p>
        </p:txBody>
      </p:sp>
      <p:sp>
        <p:nvSpPr>
          <p:cNvPr id="25" name="Arrow2"/>
          <p:cNvSpPr/>
          <p:nvPr/>
        </p:nvSpPr>
        <p:spPr>
          <a:xfrm>
            <a:off x="4846320" y="1920240"/>
            <a:ext cx="36576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</p:txBody>
      </p:sp>
      <p:sp>
        <p:nvSpPr>
          <p:cNvPr id="30" name="GoldBg"/>
          <p:cNvSpPr/>
          <p:nvPr/>
        </p:nvSpPr>
        <p:spPr>
          <a:xfrm>
            <a:off x="5303520" y="1554480"/>
            <a:ext cx="192024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182880" tIns="91440" rIns="91440" bIns="9144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GOLD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Star schema — dims + fact table</a:t>
            </a:r>
          </a:p>
          <a:p>
            <a:pPr indent="0" marL="0">
              <a:buNone/>
            </a:pPr>
            <a:r>
              <a:rPr lang="en-US" sz="1000" i="1" dirty="0">
                <a:solidFill>
                  <a:srgbClr val="FDE68A"/>
                </a:solidFill>
              </a:rPr>
              <a:t>fact_cacv_snapshot</a:t>
            </a:r>
          </a:p>
          <a:p>
            <a:pPr indent="0" marL="0">
              <a:buNone/>
            </a:pPr>
            <a:r>
              <a:rPr lang="en-US" sz="1000" i="1" dirty="0">
                <a:solidFill>
                  <a:srgbClr val="FDE68A"/>
                </a:solidFill>
              </a:rPr>
              <a:t>dim_reps, dim_accounts, dim_contracts</a:t>
            </a:r>
          </a:p>
        </p:txBody>
      </p:sp>
      <p:sp>
        <p:nvSpPr>
          <p:cNvPr id="35" name="Arrow3"/>
          <p:cNvSpPr/>
          <p:nvPr/>
        </p:nvSpPr>
        <p:spPr>
          <a:xfrm>
            <a:off x="7315200" y="1920240"/>
            <a:ext cx="36576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</p:txBody>
      </p:sp>
      <p:sp>
        <p:nvSpPr>
          <p:cNvPr id="40" name="SemanticBg"/>
          <p:cNvSpPr/>
          <p:nvPr/>
        </p:nvSpPr>
        <p:spPr>
          <a:xfrm>
            <a:off x="7772400" y="1554480"/>
            <a:ext cx="1005840" cy="96012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SEMANTIC</a:t>
            </a:r>
          </a:p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</a:t>
            </a:r>
          </a:p>
          <a:p>
            <a:pPr algn="ctr">
              <a:buNone/>
            </a:pPr>
            <a:r>
              <a:rPr lang="en-US" sz="900" dirty="0">
                <a:solidFill>
                  <a:srgbClr val="CCFBF1"/>
                </a:solidFill>
              </a:rPr>
              <a:t>flat views</a:t>
            </a:r>
          </a:p>
        </p:txBody>
      </p:sp>
      <p:sp>
        <p:nvSpPr>
          <p:cNvPr id="55" name="ConsumersLabel"/>
          <p:cNvSpPr/>
          <p:nvPr/>
        </p:nvSpPr>
        <p:spPr>
          <a:xfrm>
            <a:off x="365760" y="2606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94A3B8"/>
                </a:solidFill>
              </a:rPr>
              <a:t>DOWNSTREAM CONSUMERS (read single flat view — no joins)</a:t>
            </a:r>
          </a:p>
        </p:txBody>
      </p:sp>
      <p:sp>
        <p:nvSpPr>
          <p:cNvPr id="50" name="Con1"/>
          <p:cNvSpPr/>
          <p:nvPr/>
        </p:nvSpPr>
        <p:spPr>
          <a:xfrm>
            <a:off x="365760" y="2834640"/>
            <a:ext cx="1829880" cy="274320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9525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Exec Dashboard</a:t>
            </a:r>
          </a:p>
        </p:txBody>
      </p:sp>
      <p:sp>
        <p:nvSpPr>
          <p:cNvPr id="51" name="Con2"/>
          <p:cNvSpPr/>
          <p:nvPr/>
        </p:nvSpPr>
        <p:spPr>
          <a:xfrm>
            <a:off x="2377440" y="2834640"/>
            <a:ext cx="1829880" cy="274320"/>
          </a:xfrm>
          <a:prstGeom prst="roundRect">
            <a:avLst>
              <a:gd name="adj" fmla="val 15000"/>
            </a:avLst>
          </a:prstGeom>
          <a:solidFill>
            <a:srgbClr val="FFF7ED"/>
          </a:solidFill>
          <a:ln w="9525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C2410C"/>
                </a:solidFill>
              </a:rPr>
              <a:t>Salesforce</a:t>
            </a:r>
          </a:p>
        </p:txBody>
      </p:sp>
      <p:sp>
        <p:nvSpPr>
          <p:cNvPr id="52" name="Con3"/>
          <p:cNvSpPr/>
          <p:nvPr/>
        </p:nvSpPr>
        <p:spPr>
          <a:xfrm>
            <a:off x="4389120" y="2834640"/>
            <a:ext cx="1829880" cy="27432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Comp Platform</a:t>
            </a:r>
          </a:p>
        </p:txBody>
      </p:sp>
      <p:sp>
        <p:nvSpPr>
          <p:cNvPr id="53" name="Con4"/>
          <p:cNvSpPr/>
          <p:nvPr/>
        </p:nvSpPr>
        <p:spPr>
          <a:xfrm>
            <a:off x="6400800" y="2834640"/>
            <a:ext cx="1829880" cy="274320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 w="9525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5B21B6"/>
                </a:solidFill>
              </a:rPr>
              <a:t>Gainsight CS</a:t>
            </a:r>
          </a:p>
        </p:txBody>
      </p:sp>
      <p:sp>
        <p:nvSpPr>
          <p:cNvPr id="60" name="DQCallout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lIns="182880" tIns="0" rIns="18288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 xml:space="preserve">Data quality gates: </a:t>
            </a:r>
            <a:r>
              <a:rPr lang="en-US" sz="1100" dirty="0">
                <a:solidFill>
                  <a:srgbClr val="065F46"/>
                </a:solidFill>
              </a:rPr>
              <a:t>11 automated assertions on Bronze tables must pass before Silver loads</a:t>
            </a:r>
          </a:p>
        </p:txBody>
      </p:sp>
      <p:sp>
        <p:nvSpPr>
          <p:cNvPr id="61" name="TechStack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solidFill>
            <a:srgbClr val="EEF2FF"/>
          </a:solidFill>
          <a:ln w="9525">
            <a:solidFill>
              <a:srgbClr val="1E2761"/>
            </a:solidFill>
          </a:ln>
        </p:spPr>
        <p:txBody>
          <a:bodyPr wrap="square" lIns="182880" tIns="0" rIns="18288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 xml:space="preserve">Stack: </a:t>
            </a:r>
            <a:r>
              <a:rPr lang="en-US" sz="1100" dirty="0">
                <a:solidFill>
                  <a:srgbClr val="1E2761"/>
                </a:solidFill>
              </a:rPr>
              <a:t>BigQuery SQL (dbt-style)  ·  Python / Streamlit dashboard  ·  Reverse ETL to Salesforce, Xactly, Gainsight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Consumed ARR (cARR)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863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cARR  =  Annual Commit ($)  ×  Consumption Rate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Consumption Rate  =  trailing_90d_avg(monthly credits consumed ÷ included monthly credits)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633472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33472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7340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Healthy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3163824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$200K ARR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92% consumed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$184K cARR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2633472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633472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27340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Shelfware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64992" y="3163824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$300K ARR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4% consumed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$12K cARR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2633472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633472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27340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Expansion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3163824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$80K ARR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138% consumed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$110K cARR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New accounts (&lt;90 days) are excluded as Ramping — insufficient history for a reliable trailing average.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HEALTH TIERS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Six tiers drive CS prioritization and sales motion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</a:rPr>
              <a:t>TIER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</a:rPr>
              <a:t>CONSUMPTION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1325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</a:rPr>
              <a:t>ACTION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8412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81912"/>
            <a:ext cx="201168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179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Expansion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15179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&gt; 120%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0" y="15179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Rep-led upsell motion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66544"/>
            <a:ext cx="201168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025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Healthy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77440" y="20025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80–120%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0" y="200253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Maintain cadence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441448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551176"/>
            <a:ext cx="201168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4871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At Risk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77440" y="24871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40–80%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40480" y="24871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CS escalation within 30 days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035808"/>
            <a:ext cx="201168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971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Shelfware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377440" y="29718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5–40%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40480" y="29718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Executive sponsor outreach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341071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520440"/>
            <a:ext cx="201168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4564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Inactive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377440" y="34564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&lt; 5%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840480" y="34564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Immediate save plan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65760" y="38953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005072"/>
            <a:ext cx="201168" cy="31089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9410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Ramping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377440" y="39410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&lt; 90 days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840480" y="394106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Excluded from cARR; onboarding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00600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Health tiers drive CS playbooks and sales prioritization — cARR itself uses the raw continuous consumption rate, not tiered multipliers.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pec-Driven AI Development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0" spc="300" kern="0" dirty="0">
                <a:solidFill>
                  <a:srgbClr val="8A9ABB"/>
                </a:solidFill>
              </a:rPr>
              <a:t>03 / TECHNICAL DEEP DIVE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Spec-Driven AI Development</a:t>
            </a:r>
          </a:p>
        </p:txBody>
      </p:sp>
      <p:sp>
        <p:nvSpPr>
          <p:cNvPr id="10" name="Step1"/>
          <p:cNvSpPr/>
          <p:nvPr/>
        </p:nvSpPr>
        <p:spPr>
          <a:xfrm>
            <a:off x="365760" y="1280160"/>
            <a:ext cx="155448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1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Spec</a:t>
            </a:r>
          </a:p>
        </p:txBody>
      </p:sp>
      <p:sp>
        <p:nvSpPr>
          <p:cNvPr id="11" name="Arr1"/>
          <p:cNvSpPr/>
          <p:nvPr/>
        </p:nvSpPr>
        <p:spPr>
          <a:xfrm>
            <a:off x="2011680" y="15544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</p:txBody>
      </p:sp>
      <p:sp>
        <p:nvSpPr>
          <p:cNvPr id="20" name="Step2"/>
          <p:cNvSpPr/>
          <p:nvPr/>
        </p:nvSpPr>
        <p:spPr>
          <a:xfrm>
            <a:off x="2377440" y="1280160"/>
            <a:ext cx="155448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2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Technical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Spec</a:t>
            </a:r>
          </a:p>
        </p:txBody>
      </p:sp>
      <p:sp>
        <p:nvSpPr>
          <p:cNvPr id="21" name="Arr2"/>
          <p:cNvSpPr/>
          <p:nvPr/>
        </p:nvSpPr>
        <p:spPr>
          <a:xfrm>
            <a:off x="4023360" y="15544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</p:txBody>
      </p:sp>
      <p:sp>
        <p:nvSpPr>
          <p:cNvPr id="30" name="Step3"/>
          <p:cNvSpPr/>
          <p:nvPr/>
        </p:nvSpPr>
        <p:spPr>
          <a:xfrm>
            <a:off x="4389120" y="1280160"/>
            <a:ext cx="155448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AI-Assisted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 Build</a:t>
            </a:r>
          </a:p>
        </p:txBody>
      </p:sp>
      <p:sp>
        <p:nvSpPr>
          <p:cNvPr id="31" name="Arr3"/>
          <p:cNvSpPr/>
          <p:nvPr/>
        </p:nvSpPr>
        <p:spPr>
          <a:xfrm>
            <a:off x="6035040" y="15544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</p:txBody>
      </p:sp>
      <p:sp>
        <p:nvSpPr>
          <p:cNvPr id="40" name="Step4"/>
          <p:cNvSpPr/>
          <p:nvPr/>
        </p:nvSpPr>
        <p:spPr>
          <a:xfrm>
            <a:off x="6400800" y="1280160"/>
            <a:ext cx="128016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QA &amp;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Suite</a:t>
            </a:r>
          </a:p>
        </p:txBody>
      </p:sp>
      <p:sp>
        <p:nvSpPr>
          <p:cNvPr id="41" name="Arr4"/>
          <p:cNvSpPr/>
          <p:nvPr/>
        </p:nvSpPr>
        <p:spPr>
          <a:xfrm>
            <a:off x="7772400" y="15544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</p:txBody>
      </p:sp>
      <p:sp>
        <p:nvSpPr>
          <p:cNvPr id="50" name="Step5"/>
          <p:cNvSpPr/>
          <p:nvPr/>
        </p:nvSpPr>
        <p:spPr>
          <a:xfrm>
            <a:off x="8138160" y="1280160"/>
            <a:ext cx="822960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wrap="square" lIns="45720" tIns="91440" rIns="45720" bIns="9144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</a:p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Proto-</a:t>
            </a:r>
          </a:p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60" name="Stat1Bg"/>
          <p:cNvSpPr/>
          <p:nvPr/>
        </p:nvSpPr>
        <p:spPr>
          <a:xfrm>
            <a:off x="365760" y="228528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4000" b="1" dirty="0">
                <a:solidFill>
                  <a:srgbClr val="1E2761"/>
                </a:solidFill>
              </a:rPr>
              <a:t>~2,500</a:t>
            </a:r>
          </a:p>
          <a:p>
            <a:pPr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lines of specs written before first SQL</a:t>
            </a:r>
          </a:p>
        </p:txBody>
      </p:sp>
      <p:sp>
        <p:nvSpPr>
          <p:cNvPr id="61" name="Stat2Bg"/>
          <p:cNvSpPr/>
          <p:nvPr/>
        </p:nvSpPr>
        <p:spPr>
          <a:xfrm>
            <a:off x="2468880" y="228528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BigQuery</a:t>
            </a:r>
          </a:p>
          <a:p>
            <a:pPr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SQL pipeline, dbt-style medallion architecture</a:t>
            </a:r>
          </a:p>
        </p:txBody>
      </p:sp>
      <p:sp>
        <p:nvSpPr>
          <p:cNvPr id="62" name="Stat3Bg"/>
          <p:cNvSpPr/>
          <p:nvPr/>
        </p:nvSpPr>
        <p:spPr>
          <a:xfrm>
            <a:off x="4572000" y="228528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4000" b="1" dirty="0">
                <a:solidFill>
                  <a:srgbClr val="10B981"/>
                </a:solidFill>
              </a:rPr>
              <a:t>11</a:t>
            </a:r>
          </a:p>
          <a:p>
            <a:pPr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data quality assertions gate the pipeline</a:t>
            </a:r>
          </a:p>
        </p:txBody>
      </p:sp>
      <p:sp>
        <p:nvSpPr>
          <p:cNvPr id="63" name="Stat4Bg"/>
          <p:cNvSpPr/>
          <p:nvPr/>
        </p:nvSpPr>
        <p:spPr>
          <a:xfrm>
            <a:off x="6675120" y="2285280"/>
            <a:ext cx="2102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4000" b="1" dirty="0">
                <a:solidFill>
                  <a:srgbClr val="8B5CF6"/>
                </a:solidFill>
              </a:rPr>
              <a:t>3</a:t>
            </a:r>
          </a:p>
          <a:p>
            <a:pPr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layer test suite: DQ, metric correctness, dashboard smoke</a:t>
            </a:r>
          </a:p>
        </p:txBody>
      </p:sp>
      <p:sp>
        <p:nvSpPr>
          <p:cNvPr id="65" name="BottomCallout"/>
          <p:cNvSpPr/>
          <p:nvPr/>
        </p:nvSpPr>
        <p:spPr>
          <a:xfrm>
            <a:off x="365760" y="3474720"/>
            <a:ext cx="841248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182880" tIns="0" rIns="18288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9488"/>
                </a:solidFill>
              </a:rPr>
              <a:t xml:space="preserve">“The spec is the PM’s code.” </a:t>
            </a:r>
            <a:r>
              <a:rPr lang="en-US" sz="1200" dirty="0">
                <a:solidFill>
                  <a:srgbClr val="CADCFC"/>
                </a:solidFill>
              </a:rPr>
              <a:t>AI executes the spec; I write the spec — and I’m accountable for every 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EXECUTIVE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Live Streamlit + BigQuery dashboard for four audiences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023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184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727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Portfolio Overview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965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</a:rPr>
              <a:t>VP Sales · CFO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" y="229514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KPI strip (5 metrics) · cARR by Region bar · Account Health donut · Attainment scatter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417320"/>
            <a:ext cx="4023360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6184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5727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By Region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03520" y="1965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21B6"/>
                </a:solidFill>
              </a:rPr>
              <a:t>Regional VPs · Sales Ops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64608" y="229514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Region summary table · Health tier stacked bar by region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3218688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218688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1985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3741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Rep Leaderboard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05840" y="3767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Sales Managers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66928" y="40965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Top/bottom callout cards · Ranked bar chart · Full rep table with rank + at-risk $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663440" y="3218688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218688"/>
            <a:ext cx="402336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41985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33741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Account Drill-Down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303520" y="3767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369A1"/>
                </a:solidFill>
              </a:rPr>
              <a:t>CS Leads · AEs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864608" y="40965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Health tier filter · ARR vs. consumption scatter · Per-account detail table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4 Evaluation &amp; Results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Panel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3A6B"/>
          </a:solidFill>
          <a:ln>
            <a:noFill/>
          </a:ln>
        </p:spPr>
      </p:sp>
      <p:sp>
        <p:nvSpPr>
          <p:cNvPr id="3" name="TopAccent"/>
          <p:cNvSpPr/>
          <p:nvPr/>
        </p:nvSpPr>
        <p:spPr>
          <a:xfrm>
            <a:off x="0" y="0"/>
            <a:ext cx="6583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SectionNumBg"/>
          <p:cNvSpPr/>
          <p:nvPr/>
        </p:nvSpPr>
        <p:spPr>
          <a:xfrm>
            <a:off x="5486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spc="300" dirty="0">
                <a:solidFill>
                  <a:srgbClr val="FFFFFF"/>
                </a:solidFill>
              </a:rPr>
              <a:t>04 / SECTION</a:t>
            </a:r>
          </a:p>
        </p:txBody>
      </p:sp>
      <p:sp>
        <p:nvSpPr>
          <p:cNvPr id="5" name="SectionTitle"/>
          <p:cNvSpPr/>
          <p:nvPr/>
        </p:nvSpPr>
        <p:spPr>
          <a:xfrm>
            <a:off x="548640" y="16462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Evaluation &amp; Results</a:t>
            </a:r>
          </a:p>
        </p:txBody>
      </p:sp>
      <p:sp>
        <p:nvSpPr>
          <p:cNvPr id="6" name="TimeAlloc"/>
          <p:cNvSpPr/>
          <p:nvPr/>
        </p:nvSpPr>
        <p:spPr>
          <a:xfrm>
            <a:off x="548640" y="265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10 minutes</a:t>
            </a:r>
          </a:p>
        </p:txBody>
      </p:sp>
      <p:sp>
        <p:nvSpPr>
          <p:cNvPr id="7" name="SectionDesc"/>
          <p:cNvSpPr/>
          <p:nvPr/>
        </p:nvSpPr>
        <p:spPr>
          <a:xfrm>
            <a:off x="548640" y="30172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BB"/>
                </a:solidFill>
              </a:rPr>
              <a:t>Validation, metrics that mattered, and the hard truths learned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METRICS &amp; GOALS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Success criteria &amp; leading/lagging signal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9339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9933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81328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</a:rPr>
              <a:t>≥ 85%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93192" y="2212848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cARR Attainment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6334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</a:rPr>
              <a:t>Rolling 90 days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96312" y="1371600"/>
            <a:ext cx="199339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371600"/>
            <a:ext cx="19933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481328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≤ 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69464" y="2212848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Shelfware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9464" y="26334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</a:rPr>
              <a:t>of active accounts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72584" y="1371600"/>
            <a:ext cx="199339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371600"/>
            <a:ext cx="199339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481328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≥ 30%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45736" y="2212848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Expansion Conversion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5736" y="26334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</a:rPr>
              <a:t>flagged → upsell / 180 days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48856" y="1371600"/>
            <a:ext cx="199339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371600"/>
            <a:ext cx="1993392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481328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</a:rPr>
              <a:t>≥ 70%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922008" y="2212848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New Acct Activation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26334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</a:rPr>
              <a:t>Healthy tier within 90 days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Leading → Lagging Signal Chain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" y="3703320"/>
            <a:ext cx="1828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657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cARR Attainment ≥ 90%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36576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13632" y="36576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Strong renewal + likely expansion (NRR ≥ 120%)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105656"/>
            <a:ext cx="1828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0599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cARR Attainment 70–90%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20440" y="40599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13632" y="4059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Renewal probable; flat or slight NRR compression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507992"/>
            <a:ext cx="1828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4622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cARR Attainment &lt; 50%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20440" y="44622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13632" y="44622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High churn probability; executive save plan required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w We Validated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0" spc="300" kern="0" dirty="0">
                <a:solidFill>
                  <a:srgbClr val="8A9ABB"/>
                </a:solidFill>
              </a:rPr>
              <a:t>04 / EVALUATION &amp; RESULTS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How We Validated</a:t>
            </a:r>
          </a:p>
        </p:txBody>
      </p:sp>
      <p:sp>
        <p:nvSpPr>
          <p:cNvPr id="5" name="Intro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Three independent test layers — each gates the next stage of the pipeline</a:t>
            </a:r>
          </a:p>
        </p:txBody>
      </p:sp>
      <p:sp>
        <p:nvSpPr>
          <p:cNvPr id="10" name="Layer1Bg"/>
          <p:cNvSpPr/>
          <p:nvPr/>
        </p:nvSpPr>
        <p:spPr>
          <a:xfrm>
            <a:off x="365760" y="155448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Layer1Bar"/>
          <p:cNvSpPr/>
          <p:nvPr/>
        </p:nvSpPr>
        <p:spPr>
          <a:xfrm>
            <a:off x="365760" y="155448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" name="Layer1Text"/>
          <p:cNvSpPr/>
          <p:nvPr/>
        </p:nvSpPr>
        <p:spPr>
          <a:xfrm>
            <a:off x="457200" y="162768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Layer 1</a:t>
            </a:r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Quality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11 automated assertions on Bronze tables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/>
            </a:r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6 ERROR blocks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2 WARNING checks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INFO checks</a:t>
            </a:r>
          </a:p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Gates pipeline before Silver loads</a:t>
            </a:r>
          </a:p>
        </p:txBody>
      </p:sp>
      <p:sp>
        <p:nvSpPr>
          <p:cNvPr id="20" name="Layer2Bg"/>
          <p:cNvSpPr/>
          <p:nvPr/>
        </p:nvSpPr>
        <p:spPr>
          <a:xfrm>
            <a:off x="3200400" y="155448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Layer2Bar"/>
          <p:cNvSpPr/>
          <p:nvPr/>
        </p:nvSpPr>
        <p:spPr>
          <a:xfrm>
            <a:off x="3200400" y="155448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22" name="Layer2Text"/>
          <p:cNvSpPr/>
          <p:nvPr/>
        </p:nvSpPr>
        <p:spPr>
          <a:xfrm>
            <a:off x="3292080" y="162768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Layer 2</a:t>
            </a:r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Metric Correctness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9 regression scenarios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healthy / shelfware / inactive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expansion / ramping / spike-drop</a:t>
            </a:r>
          </a:p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If cARR changes unexpectedly, something broke</a:t>
            </a:r>
          </a:p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Gates dashboard deploy</a:t>
            </a:r>
          </a:p>
        </p:txBody>
      </p:sp>
      <p:sp>
        <p:nvSpPr>
          <p:cNvPr id="30" name="Layer3Bg"/>
          <p:cNvSpPr/>
          <p:nvPr/>
        </p:nvSpPr>
        <p:spPr>
          <a:xfrm>
            <a:off x="6035040" y="155448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Layer3Bar"/>
          <p:cNvSpPr/>
          <p:nvPr/>
        </p:nvSpPr>
        <p:spPr>
          <a:xfrm>
            <a:off x="6035040" y="1554480"/>
            <a:ext cx="26517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32" name="Layer3Text"/>
          <p:cNvSpPr/>
          <p:nvPr/>
        </p:nvSpPr>
        <p:spPr>
          <a:xfrm>
            <a:off x="6126720" y="162768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Layer 3</a:t>
            </a:r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Dashboard Smoke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All 4 tabs render without errors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Rate window fallback if columns missing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Validates 4-audience executive view</a:t>
            </a:r>
          </a:p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Run after every pipeline deploy</a:t>
            </a:r>
          </a:p>
        </p:txBody>
      </p:sp>
      <p:sp>
        <p:nvSpPr>
          <p:cNvPr id="40" name="BottomBanner"/>
          <p:cNvSpPr/>
          <p:nvPr/>
        </p:nvSpPr>
        <p:spPr>
          <a:xfrm>
            <a:off x="365760" y="3566160"/>
            <a:ext cx="841248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182880" tIns="0" rIns="18288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 xml:space="preserve">CI integration: </a:t>
            </a:r>
            <a:r>
              <a:rPr lang="en-US" sz="1100" dirty="0">
                <a:solidFill>
                  <a:srgbClr val="CADCFC"/>
                </a:solidFill>
              </a:rPr>
              <a:t>DQ tests gate the pipeline run  ·  metric tests gate the dashboard deploy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ard Truths Learned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0" spc="300" kern="0" dirty="0">
                <a:solidFill>
                  <a:srgbClr val="8A9ABB"/>
                </a:solidFill>
              </a:rPr>
              <a:t>04 / EVALUATION &amp; RESULTS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Hard Truths Learned</a:t>
            </a:r>
          </a:p>
        </p:txBody>
      </p:sp>
      <p:sp>
        <p:nvSpPr>
          <p:cNvPr id="5" name="Subtitle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Design constraints and honest v1 limitations — documented upfront, not discovered in QBR</a:t>
            </a:r>
          </a:p>
        </p:txBody>
      </p:sp>
      <p:sp>
        <p:nvSpPr>
          <p:cNvPr id="10" name="T1Bg"/>
          <p:cNvSpPr/>
          <p:nvPr/>
        </p:nvSpPr>
        <p:spPr>
          <a:xfrm>
            <a:off x="365760" y="1480680"/>
            <a:ext cx="8412480" cy="1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11" name="T1Text"/>
          <p:cNvSpPr/>
          <p:nvPr/>
        </p:nvSpPr>
        <p:spPr>
          <a:xfrm>
            <a:off x="365760" y="1498680"/>
            <a:ext cx="8412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91440" rIns="182880" bIns="9144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 xml:space="preserve">Health tier thresholds are industry starting points, not PANW-validated. </a:t>
            </a:r>
            <a:r>
              <a:rPr lang="en-US" sz="1200" dirty="0">
                <a:solidFill>
                  <a:srgbClr val="4A5568"/>
                </a:solidFill>
              </a:rPr>
              <a:t>The 5%/40%/80%/120% breakpoints need 12–18 months of PANW cohort data to validate. Until then, thresholds are calibrated, not proven.</a:t>
            </a:r>
          </a:p>
        </p:txBody>
      </p:sp>
      <p:sp>
        <p:nvSpPr>
          <p:cNvPr id="20" name="T2Bg"/>
          <p:cNvSpPr/>
          <p:nvPr/>
        </p:nvSpPr>
        <p:spPr>
          <a:xfrm>
            <a:off x="365760" y="2011680"/>
            <a:ext cx="841248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21" name="T2Text"/>
          <p:cNvSpPr/>
          <p:nvPr/>
        </p:nvSpPr>
        <p:spPr>
          <a:xfrm>
            <a:off x="365760" y="2029680"/>
            <a:ext cx="8412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91440" rIns="182880" bIns="9144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</a:rPr>
              <a:t xml:space="preserve">Consumption rate ≠ security value. </a:t>
            </a:r>
            <a:r>
              <a:rPr lang="en-US" sz="1200" dirty="0">
                <a:solidFill>
                  <a:srgbClr val="4A5568"/>
                </a:solidFill>
              </a:rPr>
              <a:t>A customer burning credits on idle workloads looks identical to active threat response. Engagement quality signal (alerts acted on, policies deployed) is a v2 addition.</a:t>
            </a:r>
          </a:p>
        </p:txBody>
      </p:sp>
      <p:sp>
        <p:nvSpPr>
          <p:cNvPr id="30" name="T3Bg"/>
          <p:cNvSpPr/>
          <p:nvPr/>
        </p:nvSpPr>
        <p:spPr>
          <a:xfrm>
            <a:off x="365760" y="2542680"/>
            <a:ext cx="8412480" cy="1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1" name="T3Text"/>
          <p:cNvSpPr/>
          <p:nvPr/>
        </p:nvSpPr>
        <p:spPr>
          <a:xfrm>
            <a:off x="365760" y="2560680"/>
            <a:ext cx="8412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91440" rIns="182880" bIns="9144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 xml:space="preserve">SCD Type 1 in v1 overwrites territory history. </a:t>
            </a:r>
            <a:r>
              <a:rPr lang="en-US" sz="1200" dirty="0">
                <a:solidFill>
                  <a:srgbClr val="4A5568"/>
                </a:solidFill>
              </a:rPr>
              <a:t>Territory reassignment history is lost. Cohort reporting by original territory is unreliable until SCD Type 2 is implemented in v2.</a:t>
            </a:r>
          </a:p>
        </p:txBody>
      </p:sp>
      <p:sp>
        <p:nvSpPr>
          <p:cNvPr id="40" name="T4Bg"/>
          <p:cNvSpPr/>
          <p:nvPr/>
        </p:nvSpPr>
        <p:spPr>
          <a:xfrm>
            <a:off x="365760" y="3073680"/>
            <a:ext cx="8412480" cy="1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41" name="T4Text"/>
          <p:cNvSpPr/>
          <p:nvPr/>
        </p:nvSpPr>
        <p:spPr>
          <a:xfrm>
            <a:off x="365760" y="3091680"/>
            <a:ext cx="8412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82880" tIns="91440" rIns="182880" bIns="9144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 xml:space="preserve">Comp integration is infrastructure-ready but process-blocked. </a:t>
            </a:r>
            <a:r>
              <a:rPr lang="en-US" sz="1200" dirty="0">
                <a:solidFill>
                  <a:srgbClr val="4A5568"/>
                </a:solidFill>
              </a:rPr>
              <a:t>The data model is built. But Finance and RevOps must define the correction workflow, clawback policy, and dispute process before the first live comp period. CFO sign-off required on retroactive corrections.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5 Panel Q&amp;A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Accent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3" name="SectionNumBg"/>
          <p:cNvSpPr/>
          <p:nvPr/>
        </p:nvSpPr>
        <p:spPr>
          <a:xfrm>
            <a:off x="457200" y="137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spc="300" dirty="0">
                <a:solidFill>
                  <a:srgbClr val="FFFFFF"/>
                </a:solidFill>
              </a:rPr>
              <a:t>05 / Q&amp;A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Panel Q&amp;A  ·  25 minutes</a:t>
            </a:r>
          </a:p>
        </p:txBody>
      </p:sp>
      <p:sp>
        <p:nvSpPr>
          <p:cNvPr id="10" name="Q1Bg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 xml:space="preserve">Q: “How do you know the 90-day window is correct?” </a:t>
            </a:r>
            <a:r>
              <a:rPr lang="en-US" sz="1100" dirty="0">
                <a:solidFill>
                  <a:srgbClr val="CADCFC"/>
                </a:solidFill>
              </a:rPr>
              <a:t>v1 assumption aligned to PANW’s quarterly comp cycle. Validate against renewal cohorts at 12–18 months. Segment-specific windows are v2.</a:t>
            </a:r>
          </a:p>
        </p:txBody>
      </p:sp>
      <p:sp>
        <p:nvSpPr>
          <p:cNvPr id="20" name="Q2Bg"/>
          <p:cNvSpPr/>
          <p:nvPr/>
        </p:nvSpPr>
        <p:spPr>
          <a:xfrm>
            <a:off x="457200" y="1774440"/>
            <a:ext cx="8229600" cy="548640"/>
          </a:xfrm>
          <a:prstGeom prst="rect">
            <a:avLst/>
          </a:prstGeom>
          <a:solidFill>
            <a:srgbClr val="1A2558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 xml:space="preserve">Q: “What if reps game the metric?” </a:t>
            </a:r>
            <a:r>
              <a:rPr lang="en-US" sz="1100" dirty="0">
                <a:solidFill>
                  <a:srgbClr val="CADCFC"/>
                </a:solidFill>
              </a:rPr>
              <a:t>90-day smoothing prevents week-of-quarter spikes. Real risk is inverse: pushing unnecessary scans. Flagged as v1 limitation — engagement quality signal is the v2 mitigation.</a:t>
            </a:r>
          </a:p>
        </p:txBody>
      </p:sp>
      <p:sp>
        <p:nvSpPr>
          <p:cNvPr id="30" name="Q3Bg"/>
          <p:cNvSpPr/>
          <p:nvPr/>
        </p:nvSpPr>
        <p:spPr>
          <a:xfrm>
            <a:off x="457200" y="2360160"/>
            <a:ext cx="8229600" cy="54864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 xml:space="preserve">Q: “Why not just use NRR?” </a:t>
            </a:r>
            <a:r>
              <a:rPr lang="en-US" sz="1100" dirty="0">
                <a:solidFill>
                  <a:srgbClr val="CADCFC"/>
                </a:solidFill>
              </a:rPr>
              <a:t>NRR is a lagging indicator — known only at renewal, 12 months later. cARR is observable today. cARR attainment predicts NRR; it doesn’t replace it.</a:t>
            </a:r>
          </a:p>
        </p:txBody>
      </p:sp>
      <p:sp>
        <p:nvSpPr>
          <p:cNvPr id="40" name="Q4Bg"/>
          <p:cNvSpPr/>
          <p:nvPr/>
        </p:nvSpPr>
        <p:spPr>
          <a:xfrm>
            <a:off x="457200" y="2945880"/>
            <a:ext cx="8229600" cy="548640"/>
          </a:xfrm>
          <a:prstGeom prst="rect">
            <a:avLst/>
          </a:prstGeom>
          <a:solidFill>
            <a:srgbClr val="1A2558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 xml:space="preserve">Q: “When can we go live with comp?” </a:t>
            </a:r>
            <a:r>
              <a:rPr lang="en-US" sz="1100" dirty="0">
                <a:solidFill>
                  <a:srgbClr val="CADCFC"/>
                </a:solidFill>
              </a:rPr>
              <a:t>Pipeline is production-ready. Comp go-live requires: correction workflow, clawback policy, dispute process, and CFO sign-off. Open questions documented in product spec §11.</a:t>
            </a:r>
          </a:p>
        </p:txBody>
      </p:sp>
      <p:sp>
        <p:nvSpPr>
          <p:cNvPr id="50" name="Q5Bg"/>
          <p:cNvSpPr/>
          <p:nvPr/>
        </p:nvSpPr>
        <p:spPr>
          <a:xfrm>
            <a:off x="457200" y="3531600"/>
            <a:ext cx="8229600" cy="54864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 xml:space="preserve">Q: “What would you do differently?” </a:t>
            </a:r>
            <a:r>
              <a:rPr lang="en-US" sz="1100" dirty="0">
                <a:solidFill>
                  <a:srgbClr val="CADCFC"/>
                </a:solidFill>
              </a:rPr>
              <a:t>Start with segment-specific ramp windows in v1. Instrument engagement quality (alerts acted on, policies deployed) from day one, not as a v2 afterthought.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3A6B"/>
          </a:solidFill>
          <a:ln w="12700">
            <a:solidFill>
              <a:srgbClr val="2D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8288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KEY TAKEAWAYS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cARR in three sentences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97510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24128" y="1920240"/>
            <a:ext cx="5376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cARR makes shelfware visible — a $300K deal at 4% consumption contributes only $12K, not $300K, to attainment.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8094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24128" y="2926080"/>
            <a:ext cx="5376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It aligns incentives end-to-end: Hunters are rewarded for quality of sale, Farmers for realized value, SEs for driving adoption.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9867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24128" y="3931920"/>
            <a:ext cx="5376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It gives the CFO a leading indicator — cARR attainment predicts NRR at renewal before a single contract is signed.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cARR: Consumed ARR — GTM North Star Metric</dc:title>
  <dc:subject>PptxGenJS Presentation</dc:subject>
  <dc:creator>Jan</dc:creator>
  <cp:lastModifiedBy>Jan</cp:lastModifiedBy>
  <cp:revision>1</cp:revision>
  <dcterms:created xsi:type="dcterms:W3CDTF">2026-05-31T06:33:59Z</dcterms:created>
  <dcterms:modified xsi:type="dcterms:W3CDTF">2026-05-31T06:33:59Z</dcterms:modified>
</cp:coreProperties>
</file>