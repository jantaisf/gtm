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D3A6B"/>
          </a:solidFill>
          <a:ln w="12700">
            <a:solidFill>
              <a:srgbClr val="2D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37160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</a:rPr>
              <a:t>JOB INTERVIEW CASE STUDY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Consumed ARR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</a:rPr>
              <a:t>(cARR)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A new North Star metric for Prisma Cloud's transition to hybrid consumption-based pricing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Palo Alto Networks · Prisma Cloud · Principal PM, Analytics &amp; AI ·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ARR alone is no longer sufficient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With Prisma Cloud's shift to consumption-based credits, two $500K deals can look identical on paper — yet represent fundamentally different business realities.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29968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29968"/>
            <a:ext cx="41148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945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216712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Shelfware Risk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67919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$500K ARR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4% consumption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$20K realized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436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Credits unused. Churn liability hiding in plain sight.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029968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029968"/>
            <a:ext cx="41148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19456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13248" y="216712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Healthy Account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83480" y="267919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$500K ARR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92% consumption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$460K realized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98348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Full value realization. Renewal + expansion candidate.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0" y="4636008"/>
            <a:ext cx="91440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4636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Sales leadership needs one metric that reflects whether contracted revenue is being realized through actual platform usage.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Consumed ARR (cARR)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841248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7863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cARR  =  Annual Commit ($)  ×  Consumption Rate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Consumption Rate  =  trailing_90d_avg(monthly credits consumed ÷ included monthly credits)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633472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633472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7340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Healthy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3163824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$200K ARR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92% consumed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$184K cARR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2633472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633472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27340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Shelfware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64992" y="3163824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$300K ARR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4% consumed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$12K cARR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2633472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633472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27340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Expansion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9632" y="3163824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$80K ARR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138% consumed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$110K cARR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New accounts (&lt;90 days) are excluded as Ramping — insufficient history for a reliable trailing average.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HEALTH TIERS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Six tiers drive CS prioritization and sales motion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</a:rPr>
              <a:t>TIER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1325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</a:rPr>
              <a:t>CONSUMPTION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1325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</a:rPr>
              <a:t>ACTION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581912"/>
            <a:ext cx="8412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81912"/>
            <a:ext cx="201168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179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Expansion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77440" y="15179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&gt; 120%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0" y="151790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Rep-led upsell motion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195681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066544"/>
            <a:ext cx="201168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0253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Healthy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77440" y="20025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80–120%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0480" y="200253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Maintain cadence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2441448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551176"/>
            <a:ext cx="201168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4871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At Risk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77440" y="24871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40–80%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840480" y="248716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CS escalation within 30 days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035808"/>
            <a:ext cx="201168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9718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Shelfware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377440" y="29718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5–40%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840480" y="29718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Executive sponsor outreach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5760" y="341071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520440"/>
            <a:ext cx="201168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45643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Inactive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377440" y="34564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&lt; 5%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840480" y="34564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Immediate save plan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65760" y="38953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005072"/>
            <a:ext cx="201168" cy="31089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9410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Ramping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377440" y="39410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&lt; 90 days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840480" y="394106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Excluded from cARR; onboarding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00600"/>
            <a:ext cx="8412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Health tiers drive CS playbooks and sales prioritization — cARR itself uses the raw continuous consumption rate, not tiered multipliers.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METRICS &amp; GOALS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Success criteria &amp; leading/lagging signal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99339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19933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81328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</a:rPr>
              <a:t>≥ 85%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93192" y="2212848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cARR Attainment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26334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</a:rPr>
              <a:t>Rolling 90 days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96312" y="1371600"/>
            <a:ext cx="199339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371600"/>
            <a:ext cx="19933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481328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≤ 8%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69464" y="2212848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Shelfware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9464" y="26334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</a:rPr>
              <a:t>of active accounts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72584" y="1371600"/>
            <a:ext cx="199339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371600"/>
            <a:ext cx="199339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481328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≥ 30%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45736" y="2212848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Expansion Conversion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45736" y="26334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</a:rPr>
              <a:t>flagged → upsell / 180 days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48856" y="1371600"/>
            <a:ext cx="199339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371600"/>
            <a:ext cx="1993392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481328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</a:rPr>
              <a:t>≥ 70%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922008" y="2212848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New Acct Activation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26334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</a:rPr>
              <a:t>Healthy tier within 90 days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Leading → Lagging Signal Chain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5760" y="3703320"/>
            <a:ext cx="18288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657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cARR Attainment ≥ 90%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0440" y="36576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13632" y="36576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Strong renewal + likely expansion (NRR ≥ 120%)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105656"/>
            <a:ext cx="1828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0599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cARR Attainment 70–90%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20440" y="40599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13632" y="4059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Renewal probable; flat or slight NRR compression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507992"/>
            <a:ext cx="1828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4622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cARR Attainment &lt; 50%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520440" y="44622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13632" y="44622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High churn probability; executive save plan required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COMPENSATION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Aligning incentives with consumption, not just deal size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813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Hunter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New logos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" y="2194560"/>
            <a:ext cx="1696212" cy="31089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194560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70% Bookings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26564" y="2194560"/>
            <a:ext cx="72694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26564" y="2194560"/>
            <a:ext cx="726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30% cARR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615184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Primary job is net new logo acquisition; consumption follows the logo.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1389888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389888"/>
            <a:ext cx="2743200" cy="548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14813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Farmer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56432" y="1847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Renewals &amp; expansion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56432" y="2194560"/>
            <a:ext cx="726948" cy="31089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194560"/>
            <a:ext cx="726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30% Bookings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83380" y="2194560"/>
            <a:ext cx="1696212" cy="31089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3380" y="2194560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70% cARR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56432" y="2615184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Primary job is value realization; comp directly tied to cARR attainment.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1389888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389888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14813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Overlay 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82512" y="1847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Technical overlay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82512" y="2194560"/>
            <a:ext cx="242316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21945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100% cARR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82512" y="2615184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Purely accountable for driving consumption growth post-sale.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4133088"/>
            <a:ext cx="84124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42816"/>
            <a:ext cx="329184" cy="32918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05840" y="41696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Activation Bonus: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Any new account reaching &gt;80% consumption within 90 days earns a one-time SPIF — rewarding quality of sale, not just deal signing.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EXECUTIVE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Live Streamlit + BigQuery dashboard for four audiences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0233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184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727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Portfolio Overview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9659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</a:rPr>
              <a:t>VP Sales · CFO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" y="229514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KPI strip (5 metrics) · cARR by Region bar · Account Health donut · Attainment scatter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417320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417320"/>
            <a:ext cx="4023360" cy="548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6184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5727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By Region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303520" y="19659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21B6"/>
                </a:solidFill>
              </a:rPr>
              <a:t>Regional VPs · Sales Ops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64608" y="229514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Region summary table · Health tier stacked bar by region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3218688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218688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1985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3741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Rep Leaderboard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05840" y="37673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Sales Managers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66928" y="40965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Top/bottom callout cards · Ranked bar chart · Full rep table with rank + at-risk $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663440" y="3218688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218688"/>
            <a:ext cx="402336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41985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03520" y="33741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Account Drill-Down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303520" y="37673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369A1"/>
                </a:solidFill>
              </a:rPr>
              <a:t>CS Leads · AEs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864608" y="40965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Health tier filter · ARR vs. consumption scatter · Per-account detail table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INDUSTRY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Consumption pricing is the new enterprise standard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2651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ADCFC"/>
                </a:solidFill>
              </a:rPr>
              <a:t>67%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SaaS companies now offer usage-based pricing — up from 35% in 2020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82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Metronome, State of Usage-Based Pricing 2025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0" y="1325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Peer Benchmark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1719072"/>
          <a:ext cx="5577840" cy="1783080"/>
        </p:xfrm>
        <a:graphic>
          <a:graphicData uri="http://schemas.openxmlformats.org/drawingml/2006/table">
            <a:tbl>
              <a:tblPr/>
              <a:tblGrid>
                <a:gridCol w="1234440"/>
                <a:gridCol w="1325880"/>
                <a:gridCol w="301752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Equivalent metric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Snowflake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Credits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Consumed Revenue = credits × price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Databricks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DBUs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Consumed ARR = annualized trailing DBU usage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MongoDB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Queries / ops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Incremental ARR above usage baseline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OpenAI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Tokens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Revenue recognized on actual consumption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PANW Prisma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Compute credits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cARR = annual_commit × consumption_rate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37033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Snowflake compensation precedent (modeled in cARR):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40233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New/greenfield reps: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  70% bookings / 30% consumption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Mature territory reps: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  30% bookings / 70% consumption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D3A6B"/>
          </a:solidFill>
          <a:ln w="12700">
            <a:solidFill>
              <a:srgbClr val="2D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8288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772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</a:rPr>
              <a:t>KEY TAKEAWAYS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cARR in three sentences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197510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24128" y="1920240"/>
            <a:ext cx="5376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cARR makes shelfware visible — a $300K deal at 4% consumption contributes only $12K, not $300K, to attainment.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8094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24128" y="2926080"/>
            <a:ext cx="5376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It aligns incentives end-to-end: Hunters are rewarded for quality of sale, Farmers for realized value, SEs for driving adoption.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98678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24128" y="3931920"/>
            <a:ext cx="5376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It gives the CFO a leading indicator — cARR attainment predicts NRR at renewal before a single contract is signed.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cARR: Consumed ARR — GTM North Star Metric</dc:title>
  <dc:subject>PptxGenJS Presentation</dc:subject>
  <dc:creator>Jan</dc:creator>
  <cp:lastModifiedBy>Jan</cp:lastModifiedBy>
  <cp:revision>1</cp:revision>
  <dcterms:created xsi:type="dcterms:W3CDTF">2026-05-31T06:33:59Z</dcterms:created>
  <dcterms:modified xsi:type="dcterms:W3CDTF">2026-05-31T06:33:59Z</dcterms:modified>
</cp:coreProperties>
</file>